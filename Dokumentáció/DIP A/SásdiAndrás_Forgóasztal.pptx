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70" r:id="rId3"/>
    <p:sldId id="260" r:id="rId4"/>
    <p:sldId id="264" r:id="rId5"/>
    <p:sldId id="261" r:id="rId6"/>
    <p:sldId id="265" r:id="rId7"/>
    <p:sldId id="262" r:id="rId8"/>
    <p:sldId id="266" r:id="rId9"/>
    <p:sldId id="268" r:id="rId10"/>
    <p:sldId id="269" r:id="rId11"/>
    <p:sldId id="271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54" autoAdjust="0"/>
  </p:normalViewPr>
  <p:slideViewPr>
    <p:cSldViewPr snapToGrid="0">
      <p:cViewPr>
        <p:scale>
          <a:sx n="75" d="100"/>
          <a:sy n="75" d="100"/>
        </p:scale>
        <p:origin x="1356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22DA2-D98F-48F7-9C17-FA04EAC9B474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C3465-9801-4AAD-B0D2-09C1F0DC2EC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2229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Diplomamunka A - tervezés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96366-9DF3-42D9-99A5-C0F866D41077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677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94C2-EA9D-64D6-AC33-59E23E4E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8718AFC-39B8-4211-8AE7-754E72180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04849AA-B724-5D33-D364-2338B782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Mikromechanikai szerkezettel alakítják át a fizikai mennyiséget elektromos jellé</a:t>
            </a:r>
          </a:p>
          <a:p>
            <a:r>
              <a:rPr lang="hu-HU" dirty="0"/>
              <a:t>Jeltovábbítás előtt jelerősítés és </a:t>
            </a:r>
            <a:r>
              <a:rPr lang="hu-HU" b="1" dirty="0"/>
              <a:t>kondicionálás</a:t>
            </a:r>
            <a:r>
              <a:rPr lang="hu-HU" dirty="0"/>
              <a:t>, </a:t>
            </a:r>
            <a:r>
              <a:rPr lang="hu-HU" b="1" dirty="0"/>
              <a:t>digitalizálják</a:t>
            </a:r>
            <a:r>
              <a:rPr lang="hu-HU" dirty="0"/>
              <a:t>.</a:t>
            </a:r>
          </a:p>
          <a:p>
            <a:r>
              <a:rPr lang="hu-HU" dirty="0"/>
              <a:t>Mérendő mennyiség lehet </a:t>
            </a:r>
            <a:r>
              <a:rPr lang="hu-HU" b="1" dirty="0"/>
              <a:t>Nyomás</a:t>
            </a:r>
            <a:r>
              <a:rPr lang="hu-HU" dirty="0"/>
              <a:t>, </a:t>
            </a:r>
            <a:r>
              <a:rPr lang="hu-HU" b="1" dirty="0"/>
              <a:t>Gyorsulás</a:t>
            </a:r>
            <a:r>
              <a:rPr lang="hu-HU" dirty="0"/>
              <a:t>, </a:t>
            </a:r>
            <a:r>
              <a:rPr lang="hu-HU" b="1" dirty="0"/>
              <a:t>gázkoncentráció</a:t>
            </a:r>
            <a:r>
              <a:rPr lang="hu-HU" dirty="0"/>
              <a:t> </a:t>
            </a:r>
            <a:r>
              <a:rPr lang="hu-HU" dirty="0" err="1"/>
              <a:t>stb</a:t>
            </a:r>
            <a:endParaRPr lang="hu-HU" dirty="0"/>
          </a:p>
          <a:p>
            <a:r>
              <a:rPr lang="hu-HU" dirty="0"/>
              <a:t>Felhasználásuk </a:t>
            </a:r>
            <a:r>
              <a:rPr lang="hu-HU" b="1" dirty="0"/>
              <a:t>sokrétű</a:t>
            </a:r>
            <a:r>
              <a:rPr lang="hu-HU" dirty="0"/>
              <a:t>, egyre </a:t>
            </a:r>
            <a:r>
              <a:rPr lang="hu-HU" b="1" dirty="0"/>
              <a:t>elterjedtebbek</a:t>
            </a:r>
          </a:p>
          <a:p>
            <a:endParaRPr lang="hu-HU" dirty="0"/>
          </a:p>
          <a:p>
            <a:r>
              <a:rPr lang="hu-HU" b="1" dirty="0"/>
              <a:t>Kis</a:t>
            </a:r>
            <a:r>
              <a:rPr lang="hu-HU" dirty="0"/>
              <a:t> méret</a:t>
            </a:r>
          </a:p>
          <a:p>
            <a:r>
              <a:rPr lang="hu-HU" b="1" dirty="0"/>
              <a:t>Megbízhatóság</a:t>
            </a:r>
          </a:p>
          <a:p>
            <a:r>
              <a:rPr lang="hu-HU" b="1" dirty="0"/>
              <a:t>Alacsony áramfelvétel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00D46EA-ECC1-E530-E10B-21D59CE60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10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Karakterizáció</a:t>
            </a:r>
            <a:r>
              <a:rPr lang="hu-HU" dirty="0"/>
              <a:t> során egyes tesztek elvégzéséhez szükséges a mért szenzor pozicionálás</a:t>
            </a:r>
          </a:p>
          <a:p>
            <a:r>
              <a:rPr lang="hu-HU" dirty="0"/>
              <a:t>Jelenleg a mérést végzést mérnöknek kell ezt megtennie manuálisan</a:t>
            </a:r>
          </a:p>
          <a:p>
            <a:r>
              <a:rPr lang="hu-HU" dirty="0"/>
              <a:t>Feladat a Tengelyek beforgatása a gravitációs térrel párhuzamos irányba</a:t>
            </a:r>
          </a:p>
          <a:p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Ott kell lenni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Sok idő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Kevésbé reprodukálható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2587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6E41F-1830-F7E6-DD3D-6CC60D5E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6DB0518-A9BA-7F1B-E0EE-2B136668B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FDBB3A6-ECFF-DD60-17F7-8A18FD0F2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szenzor tengelyei beforgathatóak legyenek a gravitációs térrel párhuzamos orientációba</a:t>
            </a:r>
          </a:p>
          <a:p>
            <a:r>
              <a:rPr lang="hu-HU" dirty="0"/>
              <a:t>A mért szenzor táp- és jelvezetékei ki legyenek vezetve</a:t>
            </a:r>
          </a:p>
          <a:p>
            <a:r>
              <a:rPr lang="hu-HU" dirty="0"/>
              <a:t>Az eszköz vezérlőpanelről és PC-ről egyaránt vezérelhető kell, hogy legyen</a:t>
            </a:r>
          </a:p>
          <a:p>
            <a:r>
              <a:rPr lang="hu-HU" dirty="0"/>
              <a:t>Ne legyen veszélyforrás, a laborban üzembehelyezhető legyen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2A243E8-E5E4-09E8-CD4F-176ADAF47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0382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Akár 3tengelyes gyorsulásmérő szenzor bármely tengelye párhuzamos tudjon lenni a g-vel</a:t>
            </a:r>
          </a:p>
          <a:p>
            <a:r>
              <a:rPr lang="hu-HU" dirty="0"/>
              <a:t>Legalább két tengely körül forgatott forgóasztal</a:t>
            </a:r>
          </a:p>
          <a:p>
            <a:r>
              <a:rPr lang="hu-HU" dirty="0"/>
              <a:t>Nézzük hogyan oldható meg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870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63BE9-3598-AB36-17E1-0188745B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119B049-B9C9-AB4E-7606-36B6F76F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4A0ACA7-0B84-05A4-7E24-BAAD20239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forgóasztalhoz a jel továbbításának kézenfekvő megoldása a csúszógyűrűk használata. Könnyen beszerezhető, sorozatgyártott alkatrészek</a:t>
            </a:r>
          </a:p>
          <a:p>
            <a:r>
              <a:rPr lang="hu-HU" dirty="0"/>
              <a:t>Fontos szempont, hogy a kommunikációs jelek továbbítására alkalmasak legyenek.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CB8B9A8-B4B1-A6EB-C228-17ED05129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5506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Forgatott motor</a:t>
            </a:r>
          </a:p>
          <a:p>
            <a:endParaRPr lang="hu-HU" dirty="0"/>
          </a:p>
          <a:p>
            <a:r>
              <a:rPr lang="hu-HU" dirty="0"/>
              <a:t>Motor tengelye ne legyen egyedüli teherviselő</a:t>
            </a:r>
          </a:p>
          <a:p>
            <a:endParaRPr lang="hu-HU" dirty="0"/>
          </a:p>
          <a:p>
            <a:r>
              <a:rPr lang="hu-HU" dirty="0"/>
              <a:t>Hátrány: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q2 táp és jelvezetékei,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Többeres csúszógyűrű vagy párhuzamosan több használata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Nagy áram továbbítása csúszógyűrűn, jelvezeték mellett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hu-HU" dirty="0"/>
              <a:t>q2 súly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Q1-nek erősebbnek kell lennie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Nagyobb szerkezet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hu-HU" dirty="0"/>
              <a:t>Fix motor ezeket megoldja, de: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Bonyolultabb szerkezet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Nem lehet </a:t>
            </a:r>
            <a:r>
              <a:rPr lang="hu-HU" dirty="0" err="1"/>
              <a:t>backlash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Több meghibásodási lehetőség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165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C21A-677F-51EE-EEAD-DF03C280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A64A14E-A71C-7817-5ED6-DA70DFF23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DBBB7B1-0E88-9E0A-B7B0-56258D3FB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Lássa el a feladatot, legyen a szenzor elérhető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1A4F8D3-56A3-DFBB-A71E-4A56031F9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6852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B1A7-A644-4945-A085-BBF560EF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87ED403-6A92-0F62-76A9-DDAA026D1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0D5B8D9-BD94-34F6-306A-EA32E8A2F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7189D2A-8969-B600-8ACB-5CD5578F9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8813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670B-FB7D-F1BD-E8DB-51DAE6A0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21B9F43-655D-EFB7-D03E-E5FAE7F07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756147B-87F4-7341-31CB-77A249E9E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hu-HU" sz="2800" b="1" i="0" dirty="0">
                <a:solidFill>
                  <a:srgbClr val="212529"/>
                </a:solidFill>
                <a:effectLst/>
                <a:latin typeface="Charis SIL"/>
              </a:rPr>
              <a:t>Reteszelt védőburkolat</a:t>
            </a:r>
            <a:r>
              <a:rPr lang="hu-HU" sz="2800" b="0" i="0" dirty="0">
                <a:solidFill>
                  <a:srgbClr val="212529"/>
                </a:solidFill>
                <a:effectLst/>
                <a:latin typeface="Charis SIL"/>
              </a:rPr>
              <a:t>: reteszelő berendezéssel (reteszeléssel) úgy összekapcsolt védőburkolat, hogy a gép vezérlőrendszerével együtt teljesíti a következő funkciókat: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hu-HU" sz="2800" b="0" i="0" dirty="0">
                <a:solidFill>
                  <a:srgbClr val="212529"/>
                </a:solidFill>
                <a:effectLst/>
                <a:latin typeface="Charis SIL"/>
              </a:rPr>
              <a:t>a védőburkolattal „lefedett” veszélyes gépi funkciók nem működtethetők mindaddig, amíg a védőburkolat nincs becsukva;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hu-HU" sz="2800" b="0" i="0" dirty="0">
                <a:solidFill>
                  <a:srgbClr val="212529"/>
                </a:solidFill>
                <a:effectLst/>
                <a:latin typeface="Charis SIL"/>
              </a:rPr>
              <a:t>ha a védőburkolat nyitva van, miközben a veszélyes gépi funkciókat működtetik, akkor állj parancsot ad, és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hu-HU" sz="2800" b="0" i="0" dirty="0">
                <a:solidFill>
                  <a:srgbClr val="212529"/>
                </a:solidFill>
                <a:effectLst/>
                <a:latin typeface="Charis SIL"/>
              </a:rPr>
              <a:t>ha a védőburkolat be van csukva, akkor a védőburkolattal „lefedett” veszélyes gépi funkciók működtethetők (a védőburkolat becsukása önmagában nem indítja el a veszélyes gépi funkciókat).</a:t>
            </a:r>
          </a:p>
          <a:p>
            <a:endParaRPr lang="hu-HU" sz="1800" dirty="0"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biztonsági berendezések vizsgálhatóságát is figyelembe kell venni a tervezéskor. A berendezés által kiadott jelet, valamint a megszakítók állapotát is vizuális visszajelzéssel kell ellátni, például egy piros és egy zöld LED-</a:t>
            </a:r>
            <a:r>
              <a:rPr lang="hu-H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</a:t>
            </a:r>
            <a:endParaRPr lang="hu-H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hu-HU" sz="180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35F3F74-00BD-A356-5B48-6FFD6DF51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0573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lépés: megvalósítás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96366-9DF3-42D9-99A5-C0F866D41077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71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ABFD78-7507-45B4-9381-FEC5B9A7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AC5719A-07DF-995B-C94D-58A17224B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73932C-1733-F362-F2BA-D919093A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666AFE-5A8B-3E62-A109-B77EFCED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150B741-7350-C3A5-39C5-C7011F40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338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635327-F93D-0A35-8174-7633EC51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901ECE-B860-0309-BC57-64ED5A0A9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F7258F5-5CCB-3AD0-0AE7-AC00F46C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B0837D-187F-EBDF-D2D4-FF4B40E3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4A1B627-9477-A689-BE45-1E85E095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263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65739B-515E-1BE1-5613-2E1278DC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4A021D2-3EBF-0B91-9ECE-582D71707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6C12F61-297F-65A8-7909-3338AD0F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9CF9AB-0D46-F01C-B73A-2E2E6B1F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FBA7829-840D-3533-6A2E-DA17D4F6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7336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F75722-542D-3FF2-71D8-E54A2B44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5D84A6-1A07-308F-B9AE-CC43B8750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339345F-CC43-DCEC-E162-F0A095C5F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5582263-A918-2868-BF1D-9398DAC2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78E1BEE-950F-346C-6417-D0906E2E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1FDB59B-D390-DA9D-F00D-FBD3ED85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370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713ADA-BDD4-E2C6-C5B8-D1B04044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9FAA56A-00B6-8E22-91F5-E2160B757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03FB62F-4C7D-5564-9196-D78E82718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EF51C68-B4C8-D9F8-7E18-F45C109D8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4B37F05-63EA-07FE-EEAF-0EBED9625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8E4E4FA-0496-7B42-ED18-C0FD543D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D2B4FF2-3DC0-6AF7-8B34-13888DD0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63F8D7A-5855-0D70-E395-41360870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978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6B3CE6-A65A-B29B-9235-9D8488EFE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0805146-E8A5-88D8-0C0B-9A6F042B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5775EF-215E-F523-FC99-92986462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AED2FE5-0644-2CFC-87F2-67D36F74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1801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6365934-F221-4495-F83C-588DE6C0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A187034-5305-7584-9103-96661274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6128B1E-1042-009B-57F6-F523C6A3B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413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1C46A3-0407-E157-F335-9D9ED7F0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0BF618-4143-E689-5364-158FCB55F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3512225-EBE8-E301-4B39-92695B869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DAFA3D4-8DAD-814C-9617-59A06824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9CE7727-2DB5-464C-AA7C-D8C10E6D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C94735C-8D60-45A3-C9B6-573738E8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746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8BA1C2-674D-2A05-0068-A688B7A1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120156E-56C9-766B-E923-41C6A6E34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80E9EE8-719A-EEF0-3460-EEB31F1B4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23D3B78-2446-210F-8505-86DB3463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79835AB-4277-EE5C-50B7-8005843B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75DDB5D-BF66-4E86-5272-934EEA34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90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1FA6B0-6C8C-832E-3D75-BFCFB80E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9DD5E0B-8CDF-5406-15D0-B1C3F7EEF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B98C19-A5EC-B077-1C65-2DA9F361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361B8D-D4ED-AF01-FF2B-56EAEF63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A9ED55-8E18-FC72-7670-BF6C05BB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148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2EF9061-1B2B-C68B-39B5-C7D838927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440FD4A-EEA6-7C21-6DA0-743007381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2F5B6D5-994F-32D1-EB75-0E7718FC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19E2DFE-32D0-418C-A301-BA688BA4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86A83F-A0A7-6C41-732B-89399FB5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23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5E29FB7-0B0E-7381-B78F-1EB808C3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717B2CD-172A-010C-BF5F-79E37BC6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6441477-2720-3205-D931-035754447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BCEA9-94D6-48EC-9EC3-B6A13AD1E8ED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3EFEF00-AF51-7189-2321-C654C2779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9CDCFB7-B0B6-94A5-10E3-604A9F306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703FD-3501-4CED-A197-B00DDDE44F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33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hyperlink" Target="mailto:sasdiandris01@gmail.com" TargetMode="External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9843D6-951B-FA9C-324B-CEB9069A8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hu-HU" dirty="0"/>
              <a:t>KÉT TENGELYŰ FORGÓASZTAL GYORSULÁSMÉRŐ SZENZOROK KARAKTERIZÁLÁSÁHOZ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4120AE-F7EF-52DD-3D0C-6D7C1F242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37878"/>
            <a:ext cx="9144000" cy="296227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(Diplomatervezés A)</a:t>
            </a:r>
          </a:p>
          <a:p>
            <a:pPr algn="l"/>
            <a:endParaRPr lang="hu-HU" dirty="0"/>
          </a:p>
          <a:p>
            <a:pPr algn="l"/>
            <a:r>
              <a:rPr lang="hu-HU" dirty="0"/>
              <a:t>Sásdi András</a:t>
            </a:r>
          </a:p>
          <a:p>
            <a:pPr algn="l"/>
            <a:r>
              <a:rPr lang="hu-HU" dirty="0"/>
              <a:t>Email: </a:t>
            </a:r>
            <a:r>
              <a:rPr lang="hu-HU" dirty="0">
                <a:hlinkClick r:id="rId3"/>
              </a:rPr>
              <a:t>sasdiandris01@gmail.com</a:t>
            </a:r>
            <a:endParaRPr lang="hu-HU" dirty="0"/>
          </a:p>
          <a:p>
            <a:pPr algn="l"/>
            <a:r>
              <a:rPr lang="hu-HU" dirty="0"/>
              <a:t>Tel.: 06305779087</a:t>
            </a:r>
          </a:p>
        </p:txBody>
      </p:sp>
      <p:pic>
        <p:nvPicPr>
          <p:cNvPr id="42" name="Kép 41">
            <a:extLst>
              <a:ext uri="{FF2B5EF4-FFF2-40B4-BE49-F238E27FC236}">
                <a16:creationId xmlns:a16="http://schemas.microsoft.com/office/drawing/2014/main" id="{41C8ABCF-EECA-30FC-1C1E-D7027ECAE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63394"/>
            <a:ext cx="2472612" cy="794606"/>
          </a:xfrm>
          <a:prstGeom prst="rect">
            <a:avLst/>
          </a:prstGeo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975DF20-2B56-BE10-E3B2-E9EFAEB6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72ECC-39F1-4254-BB3C-A4711B14D5AB}" type="slidenum">
              <a:rPr lang="hu-HU" smtClean="0"/>
              <a:t>1</a:t>
            </a:fld>
            <a:endParaRPr lang="hu-HU"/>
          </a:p>
        </p:txBody>
      </p:sp>
      <p:pic>
        <p:nvPicPr>
          <p:cNvPr id="8" name="Kép 7" descr="A képen elektronika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7D210FF-E752-8F88-D835-8ECC6DFC34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37450" y1="53853" x2="41784" y2="72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275" t="31418" r="36139" b="25017"/>
          <a:stretch/>
        </p:blipFill>
        <p:spPr>
          <a:xfrm>
            <a:off x="8111404" y="2211011"/>
            <a:ext cx="3474495" cy="308646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F866BFD-0E96-9C81-066F-20F382AA7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317" y="5297471"/>
            <a:ext cx="20955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 descr="A képen szöveg, diagram, rajz, vázla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35955EB-B18C-E78F-F9F9-E1D4369FE9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9" t="16667" r="2888" b="32778"/>
          <a:stretch/>
        </p:blipFill>
        <p:spPr>
          <a:xfrm>
            <a:off x="4500300" y="4152900"/>
            <a:ext cx="3121269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2406-DAEC-BD80-DA94-ECD55355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2FC7F1E5-4AC1-1E89-155E-EB5843E7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MEMS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szenzorok</a:t>
            </a:r>
            <a:endParaRPr lang="hu-HU" dirty="0"/>
          </a:p>
        </p:txBody>
      </p:sp>
      <p:pic>
        <p:nvPicPr>
          <p:cNvPr id="1026" name="Picture 2" descr="Automotive MEMS Sensors">
            <a:extLst>
              <a:ext uri="{FF2B5EF4-FFF2-40B4-BE49-F238E27FC236}">
                <a16:creationId xmlns:a16="http://schemas.microsoft.com/office/drawing/2014/main" id="{579B37D2-DCF8-A9B4-041A-903C0E3BA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0" r="8068" b="-3"/>
          <a:stretch>
            <a:fillRect/>
          </a:stretch>
        </p:blipFill>
        <p:spPr bwMode="auto">
          <a:xfrm>
            <a:off x="198741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Kép 9" descr="A képen elektronika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4B9BBC5-83EF-582E-D619-8AF5EAE5B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2" t="31418" r="34809" b="14491"/>
          <a:stretch/>
        </p:blipFill>
        <p:spPr>
          <a:xfrm>
            <a:off x="7099300" y="2707220"/>
            <a:ext cx="4254500" cy="346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44F0EB-CF52-0AF6-CF95-C2085335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megoldandó probléma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326A27-B631-8DF7-2272-EBC0C4CA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85634" cy="4649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MEMS gyorsulásérzékelők manuális pozicionálása</a:t>
            </a:r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5324184-24F2-937E-41EA-B1C513F7E2F4}"/>
              </a:ext>
            </a:extLst>
          </p:cNvPr>
          <p:cNvSpPr txBox="1">
            <a:spLocks/>
          </p:cNvSpPr>
          <p:nvPr/>
        </p:nvSpPr>
        <p:spPr>
          <a:xfrm>
            <a:off x="838200" y="4102571"/>
            <a:ext cx="8785634" cy="2651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Távolról végezhető</a:t>
            </a:r>
          </a:p>
          <a:p>
            <a:r>
              <a:rPr lang="hu-HU" dirty="0"/>
              <a:t>Gyorsabb</a:t>
            </a:r>
          </a:p>
          <a:p>
            <a:r>
              <a:rPr lang="hu-HU" dirty="0"/>
              <a:t>Jobb reprodukálhatóság</a:t>
            </a:r>
          </a:p>
          <a:p>
            <a:r>
              <a:rPr lang="hu-HU" dirty="0"/>
              <a:t>Mérnökórák ideálisabb kihasználása</a:t>
            </a:r>
          </a:p>
          <a:p>
            <a:endParaRPr lang="hu-HU" dirty="0"/>
          </a:p>
        </p:txBody>
      </p:sp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82E13D50-EB08-4F57-977C-C69F902BDA3A}"/>
              </a:ext>
            </a:extLst>
          </p:cNvPr>
          <p:cNvGrpSpPr/>
          <p:nvPr/>
        </p:nvGrpSpPr>
        <p:grpSpPr>
          <a:xfrm>
            <a:off x="4422724" y="2290527"/>
            <a:ext cx="1616596" cy="1812044"/>
            <a:chOff x="4422724" y="2290527"/>
            <a:chExt cx="1616596" cy="1812044"/>
          </a:xfrm>
        </p:grpSpPr>
        <p:cxnSp>
          <p:nvCxnSpPr>
            <p:cNvPr id="6" name="Egyenes összekötő nyíllal 5">
              <a:extLst>
                <a:ext uri="{FF2B5EF4-FFF2-40B4-BE49-F238E27FC236}">
                  <a16:creationId xmlns:a16="http://schemas.microsoft.com/office/drawing/2014/main" id="{A60E192D-331B-385B-1593-7FC4ECF62938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>
              <a:off x="5231017" y="2290527"/>
              <a:ext cx="0" cy="18120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C96BC656-DE2D-7897-E300-99A3C3A212F4}"/>
                </a:ext>
              </a:extLst>
            </p:cNvPr>
            <p:cNvSpPr txBox="1"/>
            <p:nvPr/>
          </p:nvSpPr>
          <p:spPr>
            <a:xfrm>
              <a:off x="4422724" y="3011883"/>
              <a:ext cx="161659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hu-HU" dirty="0"/>
                <a:t>Automatizálás</a:t>
              </a:r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686C3B6D-B6A8-0D71-295C-29B66AEA9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984" y="2594012"/>
            <a:ext cx="4690131" cy="26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42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B80C-32BD-5AF5-83E8-AB9586E7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1934F0-E4FB-BF38-4451-352E56FF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dirty="0"/>
              <a:t>Elvárások és kihívások</a:t>
            </a:r>
            <a:endParaRPr lang="hu-HU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EE1C11AC-35B2-EB12-057B-8C1B8B1361EA}"/>
              </a:ext>
            </a:extLst>
          </p:cNvPr>
          <p:cNvSpPr txBox="1">
            <a:spLocks/>
          </p:cNvSpPr>
          <p:nvPr/>
        </p:nvSpPr>
        <p:spPr>
          <a:xfrm>
            <a:off x="656823" y="2195583"/>
            <a:ext cx="8827128" cy="24668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Manuális forgatás kiváltása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Hozzáférés a mért szenzorhoz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Vezérelhető számítógépről vagy kezelőpanelről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Laborbiztonságnak megfelel</a:t>
            </a:r>
          </a:p>
        </p:txBody>
      </p:sp>
    </p:spTree>
    <p:extLst>
      <p:ext uri="{BB962C8B-B14F-4D97-AF65-F5344CB8AC3E}">
        <p14:creationId xmlns:p14="http://schemas.microsoft.com/office/powerpoint/2010/main" val="16469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6FCA19-53F1-A39B-1A5F-5CD2DFA6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Mechanizmus - Tengelyek</a:t>
            </a:r>
          </a:p>
        </p:txBody>
      </p:sp>
      <p:pic>
        <p:nvPicPr>
          <p:cNvPr id="14" name="Kép 13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0D6E975-332D-3B96-73B0-E164C9ED1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3" b="61544"/>
          <a:stretch/>
        </p:blipFill>
        <p:spPr>
          <a:xfrm>
            <a:off x="8008219" y="1838771"/>
            <a:ext cx="3722080" cy="4818432"/>
          </a:xfrm>
          <a:prstGeom prst="rect">
            <a:avLst/>
          </a:prstGeom>
        </p:spPr>
      </p:pic>
      <p:pic>
        <p:nvPicPr>
          <p:cNvPr id="15" name="Kép 14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1E39487-6268-5DB8-DAD4-15765346F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9" t="9006" r="76424" b="76538"/>
          <a:stretch/>
        </p:blipFill>
        <p:spPr>
          <a:xfrm>
            <a:off x="838200" y="2743200"/>
            <a:ext cx="2338663" cy="2483318"/>
          </a:xfrm>
          <a:prstGeom prst="rect">
            <a:avLst/>
          </a:prstGeom>
        </p:spPr>
      </p:pic>
      <p:pic>
        <p:nvPicPr>
          <p:cNvPr id="16" name="Kép 15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DC87427-EE1F-BF52-09CA-FD77B6582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4" t="24444" r="43881" b="49731"/>
          <a:stretch/>
        </p:blipFill>
        <p:spPr>
          <a:xfrm>
            <a:off x="3892415" y="2499844"/>
            <a:ext cx="4407169" cy="3323439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3FD24685-C1FE-D8BF-8E24-7C8D3DFC0B15}"/>
              </a:ext>
            </a:extLst>
          </p:cNvPr>
          <p:cNvCxnSpPr/>
          <p:nvPr/>
        </p:nvCxnSpPr>
        <p:spPr>
          <a:xfrm>
            <a:off x="6489700" y="4330700"/>
            <a:ext cx="203200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84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0CEF-9B2B-AA0E-748D-E1E73870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80C92E-1D89-1F68-9D19-6A3D1FB3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Jeltovábbítás</a:t>
            </a:r>
          </a:p>
        </p:txBody>
      </p:sp>
      <p:pic>
        <p:nvPicPr>
          <p:cNvPr id="2050" name="Picture 2" descr="OD12.4mm 18 Channel 2A - ZER-X1A - Slipring Elektrik A.S.">
            <a:extLst>
              <a:ext uri="{FF2B5EF4-FFF2-40B4-BE49-F238E27FC236}">
                <a16:creationId xmlns:a16="http://schemas.microsoft.com/office/drawing/2014/main" id="{D3EA8D91-3806-D628-EE1A-14FE23F2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715" y="2175310"/>
            <a:ext cx="3576420" cy="357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súszógyűrű fémház gyártóval, beszállítóval, eladóval - ByTune Electronics  Co., Ltd.">
            <a:extLst>
              <a:ext uri="{FF2B5EF4-FFF2-40B4-BE49-F238E27FC236}">
                <a16:creationId xmlns:a16="http://schemas.microsoft.com/office/drawing/2014/main" id="{D766897D-7E64-984C-0583-9F634E47E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052" y="2096536"/>
            <a:ext cx="3647975" cy="36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13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A329-072D-FF42-94FA-6F5B0174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CB14F3C-2DC3-2D9E-BF17-BE3F3DB91D55}"/>
              </a:ext>
            </a:extLst>
          </p:cNvPr>
          <p:cNvSpPr txBox="1"/>
          <p:nvPr/>
        </p:nvSpPr>
        <p:spPr>
          <a:xfrm>
            <a:off x="1194398" y="1500118"/>
            <a:ext cx="2938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Forgatott motor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379E8DF-6BA6-B38D-E16F-2A7AEF0C110F}"/>
              </a:ext>
            </a:extLst>
          </p:cNvPr>
          <p:cNvSpPr txBox="1"/>
          <p:nvPr/>
        </p:nvSpPr>
        <p:spPr>
          <a:xfrm>
            <a:off x="8059556" y="1488307"/>
            <a:ext cx="182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Fix motor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8DDA167D-209A-5545-B156-5FFBEBE4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dirty="0"/>
              <a:t>Mechanizmus – Motorok elrendezése</a:t>
            </a:r>
          </a:p>
        </p:txBody>
      </p:sp>
      <p:pic>
        <p:nvPicPr>
          <p:cNvPr id="19" name="Kép 18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841CCDE-4C8E-122D-E1F0-9F75C5C07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4" t="77193" r="70305" b="3479"/>
          <a:stretch/>
        </p:blipFill>
        <p:spPr>
          <a:xfrm>
            <a:off x="438715" y="3104357"/>
            <a:ext cx="1994976" cy="2253525"/>
          </a:xfrm>
          <a:prstGeom prst="rect">
            <a:avLst/>
          </a:prstGeom>
        </p:spPr>
      </p:pic>
      <p:pic>
        <p:nvPicPr>
          <p:cNvPr id="20" name="Kép 19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8C88C9B-AA21-E414-BD2D-9C2AB40DD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50" t="75228" r="15342"/>
          <a:stretch/>
        </p:blipFill>
        <p:spPr>
          <a:xfrm>
            <a:off x="2933988" y="2914027"/>
            <a:ext cx="3027239" cy="2888147"/>
          </a:xfrm>
          <a:prstGeom prst="rect">
            <a:avLst/>
          </a:prstGeom>
        </p:spPr>
      </p:pic>
      <p:cxnSp>
        <p:nvCxnSpPr>
          <p:cNvPr id="22" name="Egyenes összekötő 21">
            <a:extLst>
              <a:ext uri="{FF2B5EF4-FFF2-40B4-BE49-F238E27FC236}">
                <a16:creationId xmlns:a16="http://schemas.microsoft.com/office/drawing/2014/main" id="{33963E41-DFFB-4185-65AA-265BDDFEE848}"/>
              </a:ext>
            </a:extLst>
          </p:cNvPr>
          <p:cNvCxnSpPr>
            <a:stCxn id="18" idx="2"/>
          </p:cNvCxnSpPr>
          <p:nvPr/>
        </p:nvCxnSpPr>
        <p:spPr>
          <a:xfrm>
            <a:off x="6096000" y="1690688"/>
            <a:ext cx="0" cy="5167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Kép 22" descr="A képen vázlat, rajz, diagram, szöve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8734CEF-5058-9C30-010D-AD18B0E1C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6902357" y="2813870"/>
            <a:ext cx="485092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3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65E2-138E-1E43-CD95-C7C3EAE8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ím 1">
            <a:extLst>
              <a:ext uri="{FF2B5EF4-FFF2-40B4-BE49-F238E27FC236}">
                <a16:creationId xmlns:a16="http://schemas.microsoft.com/office/drawing/2014/main" id="{1C696040-8B13-50CB-E65B-330167A2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dirty="0"/>
              <a:t>Biztonság – veszély felmérése</a:t>
            </a:r>
          </a:p>
        </p:txBody>
      </p:sp>
      <p:pic>
        <p:nvPicPr>
          <p:cNvPr id="2052" name="Picture 4" descr="Figyelmeztető táblák">
            <a:extLst>
              <a:ext uri="{FF2B5EF4-FFF2-40B4-BE49-F238E27FC236}">
                <a16:creationId xmlns:a16="http://schemas.microsoft.com/office/drawing/2014/main" id="{07B1F126-101B-7AC5-9454-2F0430473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6" t="1649" r="1787" b="4314"/>
          <a:stretch/>
        </p:blipFill>
        <p:spPr bwMode="auto">
          <a:xfrm>
            <a:off x="9925878" y="0"/>
            <a:ext cx="2266122" cy="226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épek biztonsága">
            <a:extLst>
              <a:ext uri="{FF2B5EF4-FFF2-40B4-BE49-F238E27FC236}">
                <a16:creationId xmlns:a16="http://schemas.microsoft.com/office/drawing/2014/main" id="{891AD75E-7A28-8182-798E-3908CA1E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378" y="2631247"/>
            <a:ext cx="20955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artalom helye 2">
            <a:extLst>
              <a:ext uri="{FF2B5EF4-FFF2-40B4-BE49-F238E27FC236}">
                <a16:creationId xmlns:a16="http://schemas.microsoft.com/office/drawing/2014/main" id="{74D9B4AD-ED4E-9170-D85A-445A658DD4E0}"/>
              </a:ext>
            </a:extLst>
          </p:cNvPr>
          <p:cNvSpPr txBox="1">
            <a:spLocks/>
          </p:cNvSpPr>
          <p:nvPr/>
        </p:nvSpPr>
        <p:spPr>
          <a:xfrm>
            <a:off x="809221" y="3872537"/>
            <a:ext cx="3110107" cy="577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00"/>
              </a:spcAft>
              <a:buNone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Ütés, nyírás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67756B-C520-5D81-A51D-A8595DE328CD}"/>
              </a:ext>
            </a:extLst>
          </p:cNvPr>
          <p:cNvSpPr txBox="1">
            <a:spLocks/>
          </p:cNvSpPr>
          <p:nvPr/>
        </p:nvSpPr>
        <p:spPr>
          <a:xfrm>
            <a:off x="809223" y="2347984"/>
            <a:ext cx="3110107" cy="577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00"/>
              </a:spcAft>
              <a:buNone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Forgó alkatrészek 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00CF718-CB01-49BB-D8DA-53690C0CFADF}"/>
              </a:ext>
            </a:extLst>
          </p:cNvPr>
          <p:cNvSpPr txBox="1">
            <a:spLocks/>
          </p:cNvSpPr>
          <p:nvPr/>
        </p:nvSpPr>
        <p:spPr>
          <a:xfrm>
            <a:off x="809222" y="5395984"/>
            <a:ext cx="3110107" cy="577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00"/>
              </a:spcAft>
              <a:buNone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Védőburkolat</a:t>
            </a:r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781679B5-9A6F-48A4-9719-D7E047174268}"/>
              </a:ext>
            </a:extLst>
          </p:cNvPr>
          <p:cNvGrpSpPr/>
          <p:nvPr/>
        </p:nvGrpSpPr>
        <p:grpSpPr>
          <a:xfrm>
            <a:off x="1913798" y="2925418"/>
            <a:ext cx="900952" cy="947119"/>
            <a:chOff x="1913798" y="2925418"/>
            <a:chExt cx="900952" cy="947119"/>
          </a:xfrm>
        </p:grpSpPr>
        <p:cxnSp>
          <p:nvCxnSpPr>
            <p:cNvPr id="6" name="Egyenes összekötő nyíllal 5">
              <a:extLst>
                <a:ext uri="{FF2B5EF4-FFF2-40B4-BE49-F238E27FC236}">
                  <a16:creationId xmlns:a16="http://schemas.microsoft.com/office/drawing/2014/main" id="{22A58BDA-8124-936F-7AD3-63633F52CF4D}"/>
                </a:ext>
              </a:extLst>
            </p:cNvPr>
            <p:cNvCxnSpPr>
              <a:stCxn id="3" idx="2"/>
              <a:endCxn id="2" idx="0"/>
            </p:cNvCxnSpPr>
            <p:nvPr/>
          </p:nvCxnSpPr>
          <p:spPr>
            <a:xfrm flipH="1">
              <a:off x="2364275" y="2925418"/>
              <a:ext cx="2" cy="947119"/>
            </a:xfrm>
            <a:prstGeom prst="straightConnector1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B2176FB3-3EEB-37B0-1EB0-04B0A551D2CB}"/>
                </a:ext>
              </a:extLst>
            </p:cNvPr>
            <p:cNvSpPr txBox="1"/>
            <p:nvPr/>
          </p:nvSpPr>
          <p:spPr>
            <a:xfrm>
              <a:off x="1913798" y="3244334"/>
              <a:ext cx="9009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hu-HU" dirty="0"/>
                <a:t>veszély</a:t>
              </a:r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6A5AD64B-F262-B49B-6BA3-85FAFA1A68C6}"/>
              </a:ext>
            </a:extLst>
          </p:cNvPr>
          <p:cNvGrpSpPr/>
          <p:nvPr/>
        </p:nvGrpSpPr>
        <p:grpSpPr>
          <a:xfrm>
            <a:off x="1041645" y="4449971"/>
            <a:ext cx="2645276" cy="946013"/>
            <a:chOff x="1041645" y="4449971"/>
            <a:chExt cx="2645276" cy="946013"/>
          </a:xfrm>
        </p:grpSpPr>
        <p:cxnSp>
          <p:nvCxnSpPr>
            <p:cNvPr id="8" name="Egyenes összekötő nyíllal 7">
              <a:extLst>
                <a:ext uri="{FF2B5EF4-FFF2-40B4-BE49-F238E27FC236}">
                  <a16:creationId xmlns:a16="http://schemas.microsoft.com/office/drawing/2014/main" id="{B311E62C-7E91-092F-E7C5-26F663C589DD}"/>
                </a:ext>
              </a:extLst>
            </p:cNvPr>
            <p:cNvCxnSpPr>
              <a:stCxn id="2" idx="2"/>
              <a:endCxn id="4" idx="0"/>
            </p:cNvCxnSpPr>
            <p:nvPr/>
          </p:nvCxnSpPr>
          <p:spPr>
            <a:xfrm>
              <a:off x="2364275" y="4449971"/>
              <a:ext cx="1" cy="946013"/>
            </a:xfrm>
            <a:prstGeom prst="straightConnector1">
              <a:avLst/>
            </a:prstGeom>
            <a:ln w="381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Szövegdoboz 10">
              <a:extLst>
                <a:ext uri="{FF2B5EF4-FFF2-40B4-BE49-F238E27FC236}">
                  <a16:creationId xmlns:a16="http://schemas.microsoft.com/office/drawing/2014/main" id="{FC826DF5-A5B3-8A83-5120-6D73531B0DC8}"/>
                </a:ext>
              </a:extLst>
            </p:cNvPr>
            <p:cNvSpPr txBox="1"/>
            <p:nvPr/>
          </p:nvSpPr>
          <p:spPr>
            <a:xfrm>
              <a:off x="1041645" y="4734211"/>
              <a:ext cx="264527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hu-HU" dirty="0"/>
                <a:t>Kockázat minimalizálása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969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62D1-910D-BFA8-2049-DCD335C9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ím 1">
            <a:extLst>
              <a:ext uri="{FF2B5EF4-FFF2-40B4-BE49-F238E27FC236}">
                <a16:creationId xmlns:a16="http://schemas.microsoft.com/office/drawing/2014/main" id="{3CB7951E-331B-AB49-91C5-03E74A99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dirty="0"/>
              <a:t>Biztonság – Védőburkolat</a:t>
            </a:r>
          </a:p>
        </p:txBody>
      </p: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102FC711-4E15-9B60-4200-719DD58E578E}"/>
              </a:ext>
            </a:extLst>
          </p:cNvPr>
          <p:cNvSpPr txBox="1">
            <a:spLocks/>
          </p:cNvSpPr>
          <p:nvPr/>
        </p:nvSpPr>
        <p:spPr>
          <a:xfrm>
            <a:off x="656823" y="4908682"/>
            <a:ext cx="8827128" cy="1839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/>
              <a:t>Víztiszta polikarbonát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Csak a veszélyforrást fedi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Szerszám nélkül nyitható</a:t>
            </a:r>
          </a:p>
        </p:txBody>
      </p:sp>
      <p:pic>
        <p:nvPicPr>
          <p:cNvPr id="23" name="Kép 22" descr="A képen szöveg, diagram, rajz, vázla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88897EE-D835-24F0-B74D-DB6C8AE3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9" t="16667" r="2888" b="32778"/>
          <a:stretch/>
        </p:blipFill>
        <p:spPr>
          <a:xfrm>
            <a:off x="6946900" y="2312247"/>
            <a:ext cx="5245100" cy="4545753"/>
          </a:xfrm>
          <a:prstGeom prst="rect">
            <a:avLst/>
          </a:prstGeom>
        </p:spPr>
      </p:pic>
      <p:sp>
        <p:nvSpPr>
          <p:cNvPr id="5" name="Tartalom helye 2">
            <a:extLst>
              <a:ext uri="{FF2B5EF4-FFF2-40B4-BE49-F238E27FC236}">
                <a16:creationId xmlns:a16="http://schemas.microsoft.com/office/drawing/2014/main" id="{48A00172-67DF-174A-105F-5581FA15A34E}"/>
              </a:ext>
            </a:extLst>
          </p:cNvPr>
          <p:cNvSpPr txBox="1">
            <a:spLocks/>
          </p:cNvSpPr>
          <p:nvPr/>
        </p:nvSpPr>
        <p:spPr>
          <a:xfrm>
            <a:off x="656823" y="1853532"/>
            <a:ext cx="8827128" cy="1839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/>
              <a:t>Szilárd, nem megkerülhető, nem idéz elő új veszélyt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Csak szükséges mértékben korlátozza a munkát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Ne ösztönözze a megkerülését</a:t>
            </a:r>
          </a:p>
        </p:txBody>
      </p:sp>
    </p:spTree>
    <p:extLst>
      <p:ext uri="{BB962C8B-B14F-4D97-AF65-F5344CB8AC3E}">
        <p14:creationId xmlns:p14="http://schemas.microsoft.com/office/powerpoint/2010/main" val="418347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57712-958B-8A51-25F0-1D8344B0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ím 1">
            <a:extLst>
              <a:ext uri="{FF2B5EF4-FFF2-40B4-BE49-F238E27FC236}">
                <a16:creationId xmlns:a16="http://schemas.microsoft.com/office/drawing/2014/main" id="{8B722A14-550E-75C5-BD9F-15DC6E5A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dirty="0"/>
              <a:t>Biztonság – További megfontolások</a:t>
            </a:r>
          </a:p>
        </p:txBody>
      </p: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F81BBB9E-7DCD-5FF3-6EA6-6F9751EE79A0}"/>
              </a:ext>
            </a:extLst>
          </p:cNvPr>
          <p:cNvSpPr txBox="1">
            <a:spLocks/>
          </p:cNvSpPr>
          <p:nvPr/>
        </p:nvSpPr>
        <p:spPr>
          <a:xfrm>
            <a:off x="656823" y="4908682"/>
            <a:ext cx="8827128" cy="1839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/>
              <a:t>Reteszelt védőburkolat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Vészleállító gomb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Visszajelző LED-ek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2BE5158F-41A8-CF43-F0EE-00C449356062}"/>
              </a:ext>
            </a:extLst>
          </p:cNvPr>
          <p:cNvSpPr txBox="1">
            <a:spLocks/>
          </p:cNvSpPr>
          <p:nvPr/>
        </p:nvSpPr>
        <p:spPr>
          <a:xfrm>
            <a:off x="656823" y="1853532"/>
            <a:ext cx="10515600" cy="1839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/>
              <a:t>Nyitott burkolat esetén veszélyes funkciók kikapcsolása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Vészleállítási lehetőség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Tesztelhetőség</a:t>
            </a:r>
          </a:p>
        </p:txBody>
      </p:sp>
      <p:pic>
        <p:nvPicPr>
          <p:cNvPr id="2" name="Picture 2" descr="84-5240.0020 | EAO vészleállító nyomógomb, 22mm, Panelre szerelhető,  Menetes kioldású, 2 alaphelyzetben zárt, IP65, IP67 | RS">
            <a:extLst>
              <a:ext uri="{FF2B5EF4-FFF2-40B4-BE49-F238E27FC236}">
                <a16:creationId xmlns:a16="http://schemas.microsoft.com/office/drawing/2014/main" id="{D8B70480-B252-641B-519D-71D852B57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705" y="2675335"/>
            <a:ext cx="4192413" cy="236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47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042715-8F45-1AC4-0130-0841A400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Köszönöm a figyelmet!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2D32499-1F19-DD1D-5CD5-A2AAE105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3394"/>
            <a:ext cx="2472612" cy="794606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6AA18152-4410-79A7-6632-A327FEA6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72ECC-39F1-4254-BB3C-A4711B14D5AB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72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497</Words>
  <Application>Microsoft Office PowerPoint</Application>
  <PresentationFormat>Szélesvásznú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Charis SIL</vt:lpstr>
      <vt:lpstr>Symbol</vt:lpstr>
      <vt:lpstr>Times New Roman</vt:lpstr>
      <vt:lpstr>Office-téma</vt:lpstr>
      <vt:lpstr>KÉT TENGELYŰ FORGÓASZTAL GYORSULÁSMÉRŐ SZENZOROK KARAKTERIZÁLÁSÁHOZ</vt:lpstr>
      <vt:lpstr>MEMS szenzorok</vt:lpstr>
      <vt:lpstr>A megoldandó probléma</vt:lpstr>
      <vt:lpstr>Elvárások és kihívások</vt:lpstr>
      <vt:lpstr>Mechanizmus - Tengelyek</vt:lpstr>
      <vt:lpstr>Jeltovábbítás</vt:lpstr>
      <vt:lpstr>Mechanizmus – Motorok elrendezése</vt:lpstr>
      <vt:lpstr>Biztonság – veszély felmérése</vt:lpstr>
      <vt:lpstr>Biztonság – Védőburkolat</vt:lpstr>
      <vt:lpstr>Biztonság – További megfontolások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Sásdi András</dc:creator>
  <cp:lastModifiedBy>Sásdi András</cp:lastModifiedBy>
  <cp:revision>5</cp:revision>
  <dcterms:created xsi:type="dcterms:W3CDTF">2025-05-27T22:24:40Z</dcterms:created>
  <dcterms:modified xsi:type="dcterms:W3CDTF">2025-05-28T18:35:46Z</dcterms:modified>
</cp:coreProperties>
</file>