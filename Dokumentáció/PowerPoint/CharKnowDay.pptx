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78692" autoAdjust="0"/>
  </p:normalViewPr>
  <p:slideViewPr>
    <p:cSldViewPr snapToGrid="0">
      <p:cViewPr varScale="1">
        <p:scale>
          <a:sx n="87" d="100"/>
          <a:sy n="87" d="100"/>
        </p:scale>
        <p:origin x="7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600C27-879E-4433-B452-C4016A0FCEC6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6F8E85-E9CE-4616-8725-01B4A845C18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24794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„</a:t>
            </a:r>
            <a:r>
              <a:rPr lang="hu-HU" dirty="0" err="1"/>
              <a:t>Hackability</a:t>
            </a:r>
            <a:r>
              <a:rPr lang="hu-HU" dirty="0"/>
              <a:t>”</a:t>
            </a:r>
          </a:p>
          <a:p>
            <a:endParaRPr lang="hu-HU" dirty="0"/>
          </a:p>
          <a:p>
            <a:r>
              <a:rPr lang="hu-HU" dirty="0"/>
              <a:t>Minden </a:t>
            </a:r>
            <a:r>
              <a:rPr lang="hu-HU" dirty="0" err="1"/>
              <a:t>gpio</a:t>
            </a:r>
            <a:r>
              <a:rPr lang="hu-HU" dirty="0"/>
              <a:t> kivezetve, sok tesztpont, invertálható leállítójel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F8E85-E9CE-4616-8725-01B4A845C188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75181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Nullomga</a:t>
            </a:r>
            <a:r>
              <a:rPr lang="hu-HU" dirty="0"/>
              <a:t> nyomaték + 0 lengési lehetőség: </a:t>
            </a:r>
            <a:r>
              <a:rPr lang="hu-HU" dirty="0" err="1"/>
              <a:t>léptetőmotr</a:t>
            </a:r>
            <a:r>
              <a:rPr lang="hu-HU" dirty="0"/>
              <a:t> -&gt; nyílt hatáslánc.</a:t>
            </a:r>
          </a:p>
          <a:p>
            <a:r>
              <a:rPr lang="hu-HU" dirty="0"/>
              <a:t>Ne legyen végtelen nyomaték és ezért rángatás/lépéstévesztés -&gt; deriválható </a:t>
            </a:r>
            <a:r>
              <a:rPr lang="hu-HU" dirty="0" err="1"/>
              <a:t>fgv</a:t>
            </a:r>
            <a:r>
              <a:rPr lang="hu-HU" dirty="0"/>
              <a:t>: trigonometrikus. Jelenleg nincs </a:t>
            </a:r>
            <a:r>
              <a:rPr lang="hu-HU" dirty="0" err="1"/>
              <a:t>implementáva</a:t>
            </a:r>
            <a:r>
              <a:rPr lang="hu-HU" dirty="0"/>
              <a:t>, de könnyedén lehetne </a:t>
            </a:r>
            <a:r>
              <a:rPr lang="hu-HU" dirty="0" err="1"/>
              <a:t>Nyomatékmax</a:t>
            </a:r>
            <a:r>
              <a:rPr lang="hu-HU" dirty="0"/>
              <a:t> (=  </a:t>
            </a:r>
            <a:r>
              <a:rPr lang="hu-HU" dirty="0" err="1"/>
              <a:t>gyorsulásmax</a:t>
            </a:r>
            <a:r>
              <a:rPr lang="hu-HU" dirty="0"/>
              <a:t> * tehetetlenség) alapján T és </a:t>
            </a:r>
            <a:r>
              <a:rPr lang="hu-HU" dirty="0" err="1"/>
              <a:t>omega</a:t>
            </a:r>
            <a:r>
              <a:rPr lang="hu-HU" dirty="0"/>
              <a:t> </a:t>
            </a:r>
            <a:r>
              <a:rPr lang="hu-HU" dirty="0" err="1"/>
              <a:t>maxot</a:t>
            </a:r>
            <a:r>
              <a:rPr lang="hu-HU" dirty="0"/>
              <a:t> számolni.</a:t>
            </a:r>
          </a:p>
          <a:p>
            <a:endParaRPr lang="hu-HU" dirty="0"/>
          </a:p>
          <a:p>
            <a:r>
              <a:rPr lang="hu-HU" dirty="0" err="1"/>
              <a:t>theta</a:t>
            </a:r>
            <a:r>
              <a:rPr lang="hu-HU" dirty="0"/>
              <a:t>(t) inverz </a:t>
            </a:r>
            <a:r>
              <a:rPr lang="hu-HU" dirty="0" err="1"/>
              <a:t>fgv</a:t>
            </a:r>
            <a:r>
              <a:rPr lang="hu-HU" dirty="0"/>
              <a:t>-e a t(</a:t>
            </a:r>
            <a:r>
              <a:rPr lang="hu-HU" dirty="0" err="1"/>
              <a:t>theta</a:t>
            </a:r>
            <a:r>
              <a:rPr lang="hu-HU" dirty="0"/>
              <a:t>), ami t(k*</a:t>
            </a:r>
            <a:r>
              <a:rPr lang="hu-HU" dirty="0" err="1"/>
              <a:t>alpha</a:t>
            </a:r>
            <a:r>
              <a:rPr lang="hu-HU" dirty="0"/>
              <a:t>) -&gt; k </a:t>
            </a:r>
            <a:r>
              <a:rPr lang="hu-HU" dirty="0" err="1"/>
              <a:t>adik</a:t>
            </a:r>
            <a:r>
              <a:rPr lang="hu-HU" dirty="0"/>
              <a:t> lépés </a:t>
            </a:r>
            <a:r>
              <a:rPr lang="hu-HU"/>
              <a:t>t-je megkapható </a:t>
            </a:r>
            <a:endParaRPr lang="hu-HU" dirty="0"/>
          </a:p>
          <a:p>
            <a:endParaRPr lang="hu-HU" dirty="0"/>
          </a:p>
          <a:p>
            <a:r>
              <a:rPr lang="hu-HU" dirty="0"/>
              <a:t>Aszinkron, hogy a két motor egyszerre is mozgatható legyen-&gt; PWM + DMA</a:t>
            </a:r>
          </a:p>
          <a:p>
            <a:r>
              <a:rPr lang="hu-HU" dirty="0"/>
              <a:t>CCR fix-&gt;</a:t>
            </a:r>
            <a:r>
              <a:rPr lang="hu-HU" dirty="0" err="1"/>
              <a:t>kb</a:t>
            </a:r>
            <a:r>
              <a:rPr lang="hu-HU" dirty="0"/>
              <a:t> a minimális </a:t>
            </a:r>
            <a:r>
              <a:rPr lang="hu-HU" dirty="0" err="1"/>
              <a:t>step</a:t>
            </a:r>
            <a:r>
              <a:rPr lang="hu-HU" dirty="0"/>
              <a:t> impulzus hossz, ARR értékeket számolunk, ezeket lapátolja a DMA a </a:t>
            </a:r>
            <a:r>
              <a:rPr lang="hu-HU" dirty="0" err="1"/>
              <a:t>timerbe</a:t>
            </a:r>
            <a:r>
              <a:rPr lang="hu-HU" dirty="0"/>
              <a:t>. Ha végez azt jelzi egy </a:t>
            </a:r>
            <a:r>
              <a:rPr lang="hu-HU" dirty="0" err="1"/>
              <a:t>flag</a:t>
            </a:r>
            <a:endParaRPr lang="hu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F8E85-E9CE-4616-8725-01B4A845C188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80420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6E5B2-1FF0-111E-7F50-FCD2D737FB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6AFFF5-98D6-5F92-C94F-B32D95272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CF448-83F3-F11C-41D5-B52CB2012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B3382-BF2A-461D-AFD1-20A00E84DAEC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148B2-1BD0-741F-FBA4-8DBA03BBA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AFEFA-A20A-4911-D117-7A60D7343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1B90F-D684-469D-A168-DA8802A8364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18084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041C0-8E0F-65B0-613F-486B09113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7985-6F78-0F72-8E5B-78D7ACF7A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966DE-428F-7A38-5C7D-79B77C0BA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B3382-BF2A-461D-AFD1-20A00E84DAEC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3858A-75EB-2FA3-B545-451B3ADE7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69D7D-2A6D-9C02-5EC2-D15D2B3D7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1B90F-D684-469D-A168-DA8802A8364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36790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32D7D-2CD3-6E41-D077-F8DFD8CA0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4001FB-AFEE-535E-FC41-B1F96ED95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FA515-2B93-B03F-8E7F-11A27C64F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B3382-BF2A-461D-AFD1-20A00E84DAEC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AB43F-81D3-20F8-5735-AAC081708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29624-3522-D277-6E24-4C44FBB5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1B90F-D684-469D-A168-DA8802A8364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25650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6E5E8-B0AB-7764-E67F-28A9E8BBC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26DD3-CFE0-899B-5FA0-2AAE23CAD4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C45193-91E0-8471-1913-F297F210DD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616F70-589E-D23D-7D6A-FFB5D0147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B3382-BF2A-461D-AFD1-20A00E84DAEC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0CB380-E3EC-4BD2-2450-8912C274B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3CEC9B-84A2-85C8-A3DD-9AB6769FF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1B90F-D684-469D-A168-DA8802A8364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53604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B046E-00FE-BDFF-7FE8-7BB7A515F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1C8E5-7C82-1D47-E7E5-39763D7E0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3B1846-1C98-1D09-C9D9-430E0B5807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91BDC8-365A-F753-430D-8A1E91D3B1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55E-27A5-4374-796E-4F3209E7E5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BDB82B-BAA1-55C4-4D53-A8822DA54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B3382-BF2A-461D-AFD1-20A00E84DAEC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76FC30-8D89-A76C-AFCF-24C33B32B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0F6240-E10A-52FB-A5AA-59D934200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1B90F-D684-469D-A168-DA8802A8364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48640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C26C8-DB52-083B-82CE-A1DE7B03A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EAD0A7-03E9-03C1-2B89-077A4694A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B3382-BF2A-461D-AFD1-20A00E84DAEC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085471-A688-D40D-059A-100F81BEE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09CFAE-23D5-84C5-9FBC-EB8B6FB2F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1B90F-D684-469D-A168-DA8802A8364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06652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429816-F1B3-0648-711F-3B231BEED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B3382-BF2A-461D-AFD1-20A00E84DAEC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4C07EA-34EB-3A1D-CF22-79272F273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A83333-ABA5-9A79-7467-48AEF32D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1B90F-D684-469D-A168-DA8802A8364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81477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32DEF-9CDA-E01F-154A-64D374DBA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D024E-89DF-AF37-E85A-868F529EB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C14AFF-0F03-FE67-50BF-F469E51F72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204266-86E5-F0BF-8C7E-DD14E6DE3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B3382-BF2A-461D-AFD1-20A00E84DAEC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817601-4F43-1595-09FC-3A5DBE8C9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FB2A9D-B308-10C4-7881-79AF343E5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1B90F-D684-469D-A168-DA8802A8364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1482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7522B-A958-D52B-449E-FE8B7E1E2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C37DE6-080D-1651-EE2B-397C761CE6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2B12C-3A5F-9599-16B5-3B329D8FF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FAFF8E-090B-039C-1FB7-80601EA45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B3382-BF2A-461D-AFD1-20A00E84DAEC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2A793-E49E-1959-7CA9-C840A465B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56D109-33FA-BF8B-B999-D3435CA6A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1B90F-D684-469D-A168-DA8802A8364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51447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FBB24-9D46-3FB4-3A53-B1AD85E8A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3EC8D0-1D8F-A46C-99A7-07F6513744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8CA6F-863F-4A3A-EC9B-31BD14BB1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B3382-BF2A-461D-AFD1-20A00E84DAEC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95831-5592-4D2F-2E5A-163CAFF2A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2B1BD-4D50-C18A-98D7-C3F1FF148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1B90F-D684-469D-A168-DA8802A8364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14329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E512A7-C627-E770-21ED-683F7D27D4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069389-161A-555E-983B-D359F4D09D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64375-D866-EF6E-4996-48BC5B17B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B3382-BF2A-461D-AFD1-20A00E84DAEC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DFD78-20F6-04FF-9146-B723BC790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AA56D-11C1-1714-A79E-BF6880E60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1B90F-D684-469D-A168-DA8802A8364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86273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D3CB64-282F-9F6F-3370-2CCC035B4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59FB8-9273-A223-BD55-AC6F4D5515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F1E3E-53EA-54E3-1CEE-CC06922CDD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1B3382-BF2A-461D-AFD1-20A00E84DAEC}" type="datetimeFigureOut">
              <a:rPr lang="hu-HU" smtClean="0"/>
              <a:t>2025. 11. 17.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09A6C-5BDA-02D5-E818-45E0C26E64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8AE5D-D3B4-F519-8693-0636DF4275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C1B90F-D684-469D-A168-DA8802A8364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02990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DDEAD-68ED-9AD8-0F8B-2C90F2886C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K.I.T.T.E.N.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56FAF5-4BCC-8B3A-488F-78352F9D46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(</a:t>
            </a:r>
            <a:r>
              <a:rPr lang="hu-HU" b="1" dirty="0" err="1"/>
              <a:t>K</a:t>
            </a:r>
            <a:r>
              <a:rPr lang="hu-HU" dirty="0" err="1"/>
              <a:t>inetic</a:t>
            </a:r>
            <a:r>
              <a:rPr lang="hu-HU" dirty="0"/>
              <a:t> </a:t>
            </a:r>
            <a:r>
              <a:rPr lang="hu-HU" b="1" dirty="0"/>
              <a:t>T</a:t>
            </a:r>
            <a:r>
              <a:rPr lang="hu-HU" dirty="0"/>
              <a:t>es</a:t>
            </a:r>
            <a:r>
              <a:rPr lang="hu-HU" b="1" dirty="0"/>
              <a:t>t </a:t>
            </a:r>
            <a:r>
              <a:rPr lang="hu-HU" b="1" dirty="0" err="1"/>
              <a:t>En</a:t>
            </a:r>
            <a:r>
              <a:rPr lang="hu-HU" dirty="0" err="1"/>
              <a:t>vironment</a:t>
            </a:r>
            <a:r>
              <a:rPr lang="hu-H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24007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03B9F-2DC5-1BD7-2544-CE8258F52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Feladat:</a:t>
            </a:r>
            <a:br>
              <a:rPr lang="hu-HU" dirty="0"/>
            </a:br>
            <a:r>
              <a:rPr lang="hu-HU" dirty="0"/>
              <a:t>Gyorsulásmérő szenzorok pozicionálása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BB3D2A-4588-2706-21E3-DE7F4E5A2AF6}"/>
              </a:ext>
            </a:extLst>
          </p:cNvPr>
          <p:cNvSpPr txBox="1"/>
          <p:nvPr/>
        </p:nvSpPr>
        <p:spPr>
          <a:xfrm>
            <a:off x="530352" y="2350008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Manuális pozicionálás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076781-0460-C35B-693B-E63E02AC408A}"/>
              </a:ext>
            </a:extLst>
          </p:cNvPr>
          <p:cNvSpPr txBox="1"/>
          <p:nvPr/>
        </p:nvSpPr>
        <p:spPr>
          <a:xfrm>
            <a:off x="640080" y="2719340"/>
            <a:ext cx="47338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Időigényes (mérés leállítás, újra pozicionálás)</a:t>
            </a:r>
          </a:p>
          <a:p>
            <a:r>
              <a:rPr lang="hu-HU" dirty="0"/>
              <a:t>Jelenlétet igényel</a:t>
            </a:r>
          </a:p>
          <a:p>
            <a:r>
              <a:rPr lang="hu-HU" dirty="0"/>
              <a:t>Nem időzíthető</a:t>
            </a:r>
          </a:p>
          <a:p>
            <a:r>
              <a:rPr lang="hu-HU" dirty="0"/>
              <a:t>Pontos reprodukálás nehéz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C38E4B-51AA-FDC8-DAAD-A220CED53F4F}"/>
              </a:ext>
            </a:extLst>
          </p:cNvPr>
          <p:cNvSpPr txBox="1"/>
          <p:nvPr/>
        </p:nvSpPr>
        <p:spPr>
          <a:xfrm>
            <a:off x="6096000" y="2350008"/>
            <a:ext cx="237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Gépi pozicionálás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34702D-F214-D868-5464-A5133ABD1CDF}"/>
              </a:ext>
            </a:extLst>
          </p:cNvPr>
          <p:cNvSpPr txBox="1"/>
          <p:nvPr/>
        </p:nvSpPr>
        <p:spPr>
          <a:xfrm>
            <a:off x="6205728" y="2719340"/>
            <a:ext cx="45625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Forgatás a mérési kódba integrálható</a:t>
            </a:r>
          </a:p>
          <a:p>
            <a:r>
              <a:rPr lang="hu-HU" dirty="0"/>
              <a:t>Távolról vezérelhető</a:t>
            </a:r>
          </a:p>
          <a:p>
            <a:r>
              <a:rPr lang="hu-HU" dirty="0"/>
              <a:t>Pontos időzítés</a:t>
            </a:r>
          </a:p>
          <a:p>
            <a:r>
              <a:rPr lang="hu-HU" dirty="0"/>
              <a:t>Pontosan reprodukálható mérési szekvencia</a:t>
            </a:r>
          </a:p>
        </p:txBody>
      </p:sp>
    </p:spTree>
    <p:extLst>
      <p:ext uri="{BB962C8B-B14F-4D97-AF65-F5344CB8AC3E}">
        <p14:creationId xmlns:p14="http://schemas.microsoft.com/office/powerpoint/2010/main" val="2424873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05E1-01D0-49AE-68A5-891E73172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Követelmények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60D7B-F4DF-36B0-2D58-F126B8987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Aft>
                <a:spcPts val="200"/>
              </a:spcAft>
              <a:buFont typeface="Symbol" panose="05050102010706020507" pitchFamily="18" charset="2"/>
              <a:buChar char=""/>
            </a:pPr>
            <a:r>
              <a:rPr lang="hu-HU" dirty="0">
                <a:ea typeface="Times New Roman" panose="02020603050405020304" pitchFamily="18" charset="0"/>
                <a:cs typeface="Times New Roman" panose="02020603050405020304" pitchFamily="18" charset="0"/>
              </a:rPr>
              <a:t>Hozzáférés a mért szenzorhoz</a:t>
            </a:r>
          </a:p>
          <a:p>
            <a:pPr marL="342900" indent="-342900">
              <a:spcAft>
                <a:spcPts val="200"/>
              </a:spcAft>
              <a:buFont typeface="Symbol" panose="05050102010706020507" pitchFamily="18" charset="2"/>
              <a:buChar char=""/>
            </a:pPr>
            <a:r>
              <a:rPr lang="hu-HU" dirty="0">
                <a:ea typeface="Times New Roman" panose="02020603050405020304" pitchFamily="18" charset="0"/>
                <a:cs typeface="Times New Roman" panose="02020603050405020304" pitchFamily="18" charset="0"/>
              </a:rPr>
              <a:t>Vezérelhető számítógépről vagy kezelőpanelről</a:t>
            </a:r>
          </a:p>
          <a:p>
            <a:pPr marL="342900" indent="-342900">
              <a:spcAft>
                <a:spcPts val="200"/>
              </a:spcAft>
              <a:buFont typeface="Symbol" panose="05050102010706020507" pitchFamily="18" charset="2"/>
              <a:buChar char=""/>
            </a:pPr>
            <a:r>
              <a:rPr lang="hu-HU" dirty="0">
                <a:ea typeface="Times New Roman" panose="02020603050405020304" pitchFamily="18" charset="0"/>
                <a:cs typeface="Times New Roman" panose="02020603050405020304" pitchFamily="18" charset="0"/>
              </a:rPr>
              <a:t>Laborbiztonságnak megfelel</a:t>
            </a:r>
          </a:p>
        </p:txBody>
      </p:sp>
    </p:spTree>
    <p:extLst>
      <p:ext uri="{BB962C8B-B14F-4D97-AF65-F5344CB8AC3E}">
        <p14:creationId xmlns:p14="http://schemas.microsoft.com/office/powerpoint/2010/main" val="1849142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F303EF-58CF-7654-5A0A-FFB5C53CE875}"/>
              </a:ext>
            </a:extLst>
          </p:cNvPr>
          <p:cNvSpPr txBox="1"/>
          <p:nvPr/>
        </p:nvSpPr>
        <p:spPr>
          <a:xfrm>
            <a:off x="1578274" y="2292018"/>
            <a:ext cx="1467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Kezelőfelület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0A14E6-B75B-89B8-F6C3-391C770A670A}"/>
              </a:ext>
            </a:extLst>
          </p:cNvPr>
          <p:cNvSpPr txBox="1"/>
          <p:nvPr/>
        </p:nvSpPr>
        <p:spPr>
          <a:xfrm>
            <a:off x="5473618" y="4849290"/>
            <a:ext cx="20433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MCU</a:t>
            </a:r>
          </a:p>
          <a:p>
            <a:r>
              <a:rPr lang="hu-HU" dirty="0"/>
              <a:t>modulok vezérlése</a:t>
            </a:r>
          </a:p>
          <a:p>
            <a:r>
              <a:rPr lang="hu-HU" dirty="0"/>
              <a:t>állapotgép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841AAD-286F-CF82-D011-D744000182DD}"/>
              </a:ext>
            </a:extLst>
          </p:cNvPr>
          <p:cNvSpPr txBox="1"/>
          <p:nvPr/>
        </p:nvSpPr>
        <p:spPr>
          <a:xfrm>
            <a:off x="138936" y="2305617"/>
            <a:ext cx="830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Kijelző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AED398-6A34-83D0-9B0C-0D45914AA3C7}"/>
              </a:ext>
            </a:extLst>
          </p:cNvPr>
          <p:cNvSpPr txBox="1"/>
          <p:nvPr/>
        </p:nvSpPr>
        <p:spPr>
          <a:xfrm>
            <a:off x="1787466" y="1461252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Gombok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423B39-6115-FDEC-7AB4-36A81D9E1A53}"/>
              </a:ext>
            </a:extLst>
          </p:cNvPr>
          <p:cNvSpPr txBox="1"/>
          <p:nvPr/>
        </p:nvSpPr>
        <p:spPr>
          <a:xfrm>
            <a:off x="3728295" y="2301608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err="1"/>
              <a:t>Numpad</a:t>
            </a:r>
            <a:endParaRPr lang="hu-H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896CC7-9DE1-BB8D-9A80-C0774D66C0C3}"/>
              </a:ext>
            </a:extLst>
          </p:cNvPr>
          <p:cNvSpPr txBox="1"/>
          <p:nvPr/>
        </p:nvSpPr>
        <p:spPr>
          <a:xfrm>
            <a:off x="8463706" y="2292018"/>
            <a:ext cx="1133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Mozgatás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6BFEBA-133B-CBFE-8A99-8F89D69FA16A}"/>
              </a:ext>
            </a:extLst>
          </p:cNvPr>
          <p:cNvSpPr txBox="1"/>
          <p:nvPr/>
        </p:nvSpPr>
        <p:spPr>
          <a:xfrm>
            <a:off x="6462024" y="2330824"/>
            <a:ext cx="1585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Motorvezérlés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A261B1-D061-0FD9-EA04-7A05A11725C5}"/>
              </a:ext>
            </a:extLst>
          </p:cNvPr>
          <p:cNvSpPr txBox="1"/>
          <p:nvPr/>
        </p:nvSpPr>
        <p:spPr>
          <a:xfrm>
            <a:off x="8521894" y="1645918"/>
            <a:ext cx="1016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err="1"/>
              <a:t>Encoder</a:t>
            </a:r>
            <a:endParaRPr lang="hu-H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7DB492-19E2-C6B5-8ABB-1C9D94826CA0}"/>
              </a:ext>
            </a:extLst>
          </p:cNvPr>
          <p:cNvSpPr txBox="1"/>
          <p:nvPr/>
        </p:nvSpPr>
        <p:spPr>
          <a:xfrm>
            <a:off x="10179461" y="2332608"/>
            <a:ext cx="2012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Referenciaszenzor</a:t>
            </a:r>
          </a:p>
        </p:txBody>
      </p:sp>
    </p:spTree>
    <p:extLst>
      <p:ext uri="{BB962C8B-B14F-4D97-AF65-F5344CB8AC3E}">
        <p14:creationId xmlns:p14="http://schemas.microsoft.com/office/powerpoint/2010/main" val="1239711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235DD-E90D-EB5A-8FCD-56A5FD8C2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hu-HU" dirty="0"/>
              <a:t>Állapotgép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A85B81F-6665-6662-6162-C1722BB511A9}"/>
              </a:ext>
            </a:extLst>
          </p:cNvPr>
          <p:cNvGrpSpPr/>
          <p:nvPr/>
        </p:nvGrpSpPr>
        <p:grpSpPr>
          <a:xfrm>
            <a:off x="4463796" y="1433674"/>
            <a:ext cx="2478024" cy="1514126"/>
            <a:chOff x="4308348" y="716199"/>
            <a:chExt cx="2478024" cy="151412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F016A6C-7C34-D26E-2484-0DAA942A06A9}"/>
                </a:ext>
              </a:extLst>
            </p:cNvPr>
            <p:cNvGrpSpPr/>
            <p:nvPr/>
          </p:nvGrpSpPr>
          <p:grpSpPr>
            <a:xfrm>
              <a:off x="4308348" y="716199"/>
              <a:ext cx="2478024" cy="1514126"/>
              <a:chOff x="4050792" y="1027906"/>
              <a:chExt cx="3200400" cy="1514126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6D4CFF23-BD51-BF04-C3F3-D1672257AB81}"/>
                  </a:ext>
                </a:extLst>
              </p:cNvPr>
              <p:cNvSpPr/>
              <p:nvPr/>
            </p:nvSpPr>
            <p:spPr>
              <a:xfrm>
                <a:off x="4050792" y="1027906"/>
                <a:ext cx="3200400" cy="1514126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FCC07EE-D6CA-9904-1606-567F0F88529E}"/>
                  </a:ext>
                </a:extLst>
              </p:cNvPr>
              <p:cNvSpPr txBox="1"/>
              <p:nvPr/>
            </p:nvSpPr>
            <p:spPr>
              <a:xfrm>
                <a:off x="4050792" y="1027906"/>
                <a:ext cx="3200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dirty="0" err="1"/>
                  <a:t>Settings</a:t>
                </a:r>
                <a:endParaRPr lang="hu-HU" dirty="0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2242129-5A44-7079-46AE-AAC6091D504E}"/>
                </a:ext>
              </a:extLst>
            </p:cNvPr>
            <p:cNvSpPr txBox="1"/>
            <p:nvPr/>
          </p:nvSpPr>
          <p:spPr>
            <a:xfrm>
              <a:off x="4308348" y="1011597"/>
              <a:ext cx="214884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 err="1"/>
                <a:t>FixAx</a:t>
              </a:r>
              <a:endParaRPr lang="hu-HU" dirty="0"/>
            </a:p>
            <a:p>
              <a:r>
                <a:rPr lang="hu-HU" dirty="0" err="1"/>
                <a:t>TrackedAx</a:t>
              </a:r>
              <a:endParaRPr lang="hu-HU" dirty="0"/>
            </a:p>
            <a:p>
              <a:r>
                <a:rPr lang="hu-HU" dirty="0" err="1"/>
                <a:t>Angle</a:t>
              </a:r>
              <a:r>
                <a:rPr lang="hu-HU" dirty="0"/>
                <a:t> of </a:t>
              </a:r>
              <a:r>
                <a:rPr lang="hu-HU" dirty="0" err="1"/>
                <a:t>tracked</a:t>
              </a:r>
              <a:r>
                <a:rPr lang="hu-HU" dirty="0"/>
                <a:t> </a:t>
              </a:r>
              <a:r>
                <a:rPr lang="hu-HU" dirty="0" err="1"/>
                <a:t>ax</a:t>
              </a:r>
              <a:endParaRPr lang="hu-HU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8D00121-DE65-9E1C-EC5C-E38EFE9A8141}"/>
              </a:ext>
            </a:extLst>
          </p:cNvPr>
          <p:cNvGrpSpPr/>
          <p:nvPr/>
        </p:nvGrpSpPr>
        <p:grpSpPr>
          <a:xfrm>
            <a:off x="2250949" y="4164727"/>
            <a:ext cx="2478024" cy="1514126"/>
            <a:chOff x="4856988" y="5180441"/>
            <a:chExt cx="2478024" cy="1514126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A84581C-C720-2661-6583-8E0205968220}"/>
                </a:ext>
              </a:extLst>
            </p:cNvPr>
            <p:cNvGrpSpPr/>
            <p:nvPr/>
          </p:nvGrpSpPr>
          <p:grpSpPr>
            <a:xfrm>
              <a:off x="4856988" y="5180441"/>
              <a:ext cx="2478024" cy="1514126"/>
              <a:chOff x="4050792" y="1027906"/>
              <a:chExt cx="3200400" cy="1514126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BEBC8DA2-6A8F-09E6-5DFA-E650CD63BBFC}"/>
                  </a:ext>
                </a:extLst>
              </p:cNvPr>
              <p:cNvSpPr/>
              <p:nvPr/>
            </p:nvSpPr>
            <p:spPr>
              <a:xfrm>
                <a:off x="4050792" y="1027906"/>
                <a:ext cx="3200400" cy="1514126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FC6FEB7-F778-2D58-4C2A-DAD05C77CA98}"/>
                  </a:ext>
                </a:extLst>
              </p:cNvPr>
              <p:cNvSpPr txBox="1"/>
              <p:nvPr/>
            </p:nvSpPr>
            <p:spPr>
              <a:xfrm>
                <a:off x="4050792" y="1027906"/>
                <a:ext cx="3200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dirty="0" err="1"/>
                  <a:t>Moove</a:t>
                </a:r>
                <a:endParaRPr lang="hu-HU" dirty="0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1927835-4CCA-D07E-F10A-8FE2ED967AF8}"/>
                </a:ext>
              </a:extLst>
            </p:cNvPr>
            <p:cNvSpPr txBox="1"/>
            <p:nvPr/>
          </p:nvSpPr>
          <p:spPr>
            <a:xfrm>
              <a:off x="4856988" y="5752838"/>
              <a:ext cx="247802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/>
                <a:t>Beállítások által leírt pozíció felvétele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25F32E1-A8D2-8351-BDDA-A00ED057F79F}"/>
              </a:ext>
            </a:extLst>
          </p:cNvPr>
          <p:cNvGrpSpPr/>
          <p:nvPr/>
        </p:nvGrpSpPr>
        <p:grpSpPr>
          <a:xfrm>
            <a:off x="7481315" y="4164727"/>
            <a:ext cx="2478024" cy="1514126"/>
            <a:chOff x="8875778" y="3034649"/>
            <a:chExt cx="2478024" cy="1514126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72EA9E6-E83D-0E8C-A4EE-6D19C410064E}"/>
                </a:ext>
              </a:extLst>
            </p:cNvPr>
            <p:cNvGrpSpPr/>
            <p:nvPr/>
          </p:nvGrpSpPr>
          <p:grpSpPr>
            <a:xfrm>
              <a:off x="8875778" y="3034649"/>
              <a:ext cx="2478024" cy="1514126"/>
              <a:chOff x="4050792" y="1027906"/>
              <a:chExt cx="3200400" cy="1514126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7341E5A5-466D-B412-9F4F-023AD9C3F69F}"/>
                  </a:ext>
                </a:extLst>
              </p:cNvPr>
              <p:cNvSpPr/>
              <p:nvPr/>
            </p:nvSpPr>
            <p:spPr>
              <a:xfrm>
                <a:off x="4050792" y="1027906"/>
                <a:ext cx="3200400" cy="1514126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983D956-FF98-A2AE-F2F3-FFB140B5328E}"/>
                  </a:ext>
                </a:extLst>
              </p:cNvPr>
              <p:cNvSpPr txBox="1"/>
              <p:nvPr/>
            </p:nvSpPr>
            <p:spPr>
              <a:xfrm>
                <a:off x="4050792" y="1027906"/>
                <a:ext cx="3200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dirty="0"/>
                  <a:t>Free </a:t>
                </a:r>
                <a:r>
                  <a:rPr lang="hu-HU" dirty="0" err="1"/>
                  <a:t>moove</a:t>
                </a:r>
                <a:endParaRPr lang="hu-HU" dirty="0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D8EEF8C-633A-C7B3-A178-A7BB7E8E9135}"/>
                </a:ext>
              </a:extLst>
            </p:cNvPr>
            <p:cNvSpPr txBox="1"/>
            <p:nvPr/>
          </p:nvSpPr>
          <p:spPr>
            <a:xfrm>
              <a:off x="8875778" y="3607046"/>
              <a:ext cx="247802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/>
                <a:t>Szabad mozgatása a tengelyeknek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8F360AB-C3B7-6C75-96E0-CE051621B437}"/>
              </a:ext>
            </a:extLst>
          </p:cNvPr>
          <p:cNvGrpSpPr/>
          <p:nvPr/>
        </p:nvGrpSpPr>
        <p:grpSpPr>
          <a:xfrm>
            <a:off x="8354568" y="1433674"/>
            <a:ext cx="2478024" cy="1514126"/>
            <a:chOff x="8753856" y="1224468"/>
            <a:chExt cx="2478024" cy="1514126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D8A43D5-3CC3-E23C-A81E-25BA6350E9E4}"/>
                </a:ext>
              </a:extLst>
            </p:cNvPr>
            <p:cNvGrpSpPr/>
            <p:nvPr/>
          </p:nvGrpSpPr>
          <p:grpSpPr>
            <a:xfrm>
              <a:off x="8753856" y="1224468"/>
              <a:ext cx="2478024" cy="1514126"/>
              <a:chOff x="4050792" y="1027906"/>
              <a:chExt cx="3200400" cy="1514126"/>
            </a:xfrm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6D15C40D-0D12-1622-8FE7-F35C32BC5181}"/>
                  </a:ext>
                </a:extLst>
              </p:cNvPr>
              <p:cNvSpPr/>
              <p:nvPr/>
            </p:nvSpPr>
            <p:spPr>
              <a:xfrm>
                <a:off x="4050792" y="1027906"/>
                <a:ext cx="3200400" cy="1514126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9ADB537-F395-5DA5-F23B-ECC6577D85D7}"/>
                  </a:ext>
                </a:extLst>
              </p:cNvPr>
              <p:cNvSpPr txBox="1"/>
              <p:nvPr/>
            </p:nvSpPr>
            <p:spPr>
              <a:xfrm>
                <a:off x="4050792" y="1027906"/>
                <a:ext cx="3200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dirty="0" err="1"/>
                  <a:t>Remote</a:t>
                </a:r>
                <a:endParaRPr lang="hu-HU" dirty="0"/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39B2237-0781-906A-DEED-8C8238361B15}"/>
                </a:ext>
              </a:extLst>
            </p:cNvPr>
            <p:cNvSpPr txBox="1"/>
            <p:nvPr/>
          </p:nvSpPr>
          <p:spPr>
            <a:xfrm>
              <a:off x="8753856" y="1796865"/>
              <a:ext cx="24780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/>
                <a:t>Vezérlés PC-ről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4E45C5F-995D-7018-BC3F-9D454B4615DD}"/>
              </a:ext>
            </a:extLst>
          </p:cNvPr>
          <p:cNvGrpSpPr/>
          <p:nvPr/>
        </p:nvGrpSpPr>
        <p:grpSpPr>
          <a:xfrm>
            <a:off x="573024" y="1433674"/>
            <a:ext cx="2478024" cy="1514126"/>
            <a:chOff x="838200" y="3034649"/>
            <a:chExt cx="2478024" cy="151412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DE86202-D4C4-FB73-1F00-92B0D6746562}"/>
                </a:ext>
              </a:extLst>
            </p:cNvPr>
            <p:cNvGrpSpPr/>
            <p:nvPr/>
          </p:nvGrpSpPr>
          <p:grpSpPr>
            <a:xfrm>
              <a:off x="838200" y="3034649"/>
              <a:ext cx="2478024" cy="1514126"/>
              <a:chOff x="4050792" y="1027906"/>
              <a:chExt cx="3200400" cy="1514126"/>
            </a:xfrm>
          </p:grpSpPr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F0654B00-14B1-07E3-BBEC-77A6E12B7F7F}"/>
                  </a:ext>
                </a:extLst>
              </p:cNvPr>
              <p:cNvSpPr/>
              <p:nvPr/>
            </p:nvSpPr>
            <p:spPr>
              <a:xfrm>
                <a:off x="4050792" y="1027906"/>
                <a:ext cx="3200400" cy="1514126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F2A23B7-A73A-41E9-4669-AB4AE9706645}"/>
                  </a:ext>
                </a:extLst>
              </p:cNvPr>
              <p:cNvSpPr txBox="1"/>
              <p:nvPr/>
            </p:nvSpPr>
            <p:spPr>
              <a:xfrm>
                <a:off x="4050792" y="1027906"/>
                <a:ext cx="3200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dirty="0" err="1"/>
                  <a:t>Select</a:t>
                </a:r>
                <a:r>
                  <a:rPr lang="hu-HU" dirty="0"/>
                  <a:t> </a:t>
                </a:r>
                <a:r>
                  <a:rPr lang="hu-HU" dirty="0" err="1"/>
                  <a:t>Memory</a:t>
                </a:r>
                <a:endParaRPr lang="hu-HU" dirty="0"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206C4B7-7951-8EEA-3448-FBDC1E520E4D}"/>
                </a:ext>
              </a:extLst>
            </p:cNvPr>
            <p:cNvSpPr txBox="1"/>
            <p:nvPr/>
          </p:nvSpPr>
          <p:spPr>
            <a:xfrm>
              <a:off x="838200" y="3607046"/>
              <a:ext cx="247802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/>
                <a:t>Beállítások betöltése, 9 memória hely van</a:t>
              </a:r>
            </a:p>
          </p:txBody>
        </p:sp>
      </p:grp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C14B39C-CA3B-B143-E607-4432A2420F36}"/>
              </a:ext>
            </a:extLst>
          </p:cNvPr>
          <p:cNvCxnSpPr>
            <a:cxnSpLocks/>
          </p:cNvCxnSpPr>
          <p:nvPr/>
        </p:nvCxnSpPr>
        <p:spPr>
          <a:xfrm>
            <a:off x="3051048" y="2581995"/>
            <a:ext cx="14127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75455C2-27C0-75C6-04BD-9698A71ECD8B}"/>
              </a:ext>
            </a:extLst>
          </p:cNvPr>
          <p:cNvCxnSpPr/>
          <p:nvPr/>
        </p:nvCxnSpPr>
        <p:spPr>
          <a:xfrm flipH="1">
            <a:off x="3051048" y="1803006"/>
            <a:ext cx="14127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8942BE6-AA58-B704-0ABC-791BDC75823F}"/>
              </a:ext>
            </a:extLst>
          </p:cNvPr>
          <p:cNvCxnSpPr/>
          <p:nvPr/>
        </p:nvCxnSpPr>
        <p:spPr>
          <a:xfrm flipH="1">
            <a:off x="2843784" y="2761488"/>
            <a:ext cx="1620012" cy="14032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7CDFE464-B4B2-9E50-BDB6-695B696C6ACB}"/>
              </a:ext>
            </a:extLst>
          </p:cNvPr>
          <p:cNvCxnSpPr/>
          <p:nvPr/>
        </p:nvCxnSpPr>
        <p:spPr>
          <a:xfrm flipV="1">
            <a:off x="3995928" y="2947800"/>
            <a:ext cx="1271016" cy="12169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94ADE09-336A-23D6-5240-02DA3117D26E}"/>
              </a:ext>
            </a:extLst>
          </p:cNvPr>
          <p:cNvCxnSpPr/>
          <p:nvPr/>
        </p:nvCxnSpPr>
        <p:spPr>
          <a:xfrm>
            <a:off x="6281928" y="2947800"/>
            <a:ext cx="1609344" cy="12169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0FC25B23-EB33-01B1-18A2-4212E8A2DD2E}"/>
              </a:ext>
            </a:extLst>
          </p:cNvPr>
          <p:cNvCxnSpPr>
            <a:stCxn id="18" idx="0"/>
          </p:cNvCxnSpPr>
          <p:nvPr/>
        </p:nvCxnSpPr>
        <p:spPr>
          <a:xfrm flipH="1" flipV="1">
            <a:off x="6941820" y="2761488"/>
            <a:ext cx="1778507" cy="14032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69896E9-F4BA-FBA7-70DB-959E7E6021D7}"/>
              </a:ext>
            </a:extLst>
          </p:cNvPr>
          <p:cNvCxnSpPr>
            <a:cxnSpLocks/>
          </p:cNvCxnSpPr>
          <p:nvPr/>
        </p:nvCxnSpPr>
        <p:spPr>
          <a:xfrm>
            <a:off x="6941820" y="1803006"/>
            <a:ext cx="14127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56EC358D-A83A-FF3D-6E03-2CD77EDA1537}"/>
              </a:ext>
            </a:extLst>
          </p:cNvPr>
          <p:cNvCxnSpPr/>
          <p:nvPr/>
        </p:nvCxnSpPr>
        <p:spPr>
          <a:xfrm flipH="1">
            <a:off x="6941820" y="2581995"/>
            <a:ext cx="14127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7B76B8B8-DEC2-22E1-4D7A-F59CCA8D6C02}"/>
              </a:ext>
            </a:extLst>
          </p:cNvPr>
          <p:cNvSpPr txBox="1"/>
          <p:nvPr/>
        </p:nvSpPr>
        <p:spPr>
          <a:xfrm>
            <a:off x="3399081" y="825621"/>
            <a:ext cx="1064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err="1"/>
              <a:t>Mem</a:t>
            </a:r>
            <a:r>
              <a:rPr lang="hu-HU" dirty="0"/>
              <a:t> </a:t>
            </a:r>
            <a:r>
              <a:rPr lang="hu-HU" dirty="0" err="1"/>
              <a:t>btn</a:t>
            </a:r>
            <a:endParaRPr lang="hu-HU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0486FE6-A869-DD1E-F17F-32CF3F3D24D7}"/>
              </a:ext>
            </a:extLst>
          </p:cNvPr>
          <p:cNvSpPr txBox="1"/>
          <p:nvPr/>
        </p:nvSpPr>
        <p:spPr>
          <a:xfrm>
            <a:off x="3428894" y="148115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MEM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EA7F4B8-2018-19D5-8DA2-8007CAFC4CD5}"/>
              </a:ext>
            </a:extLst>
          </p:cNvPr>
          <p:cNvSpPr txBox="1"/>
          <p:nvPr/>
        </p:nvSpPr>
        <p:spPr>
          <a:xfrm>
            <a:off x="3510738" y="2190737"/>
            <a:ext cx="48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OK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CD6DDC4-C5ED-AEF5-716B-CC83D2A33073}"/>
              </a:ext>
            </a:extLst>
          </p:cNvPr>
          <p:cNvSpPr txBox="1"/>
          <p:nvPr/>
        </p:nvSpPr>
        <p:spPr>
          <a:xfrm>
            <a:off x="7130199" y="1424486"/>
            <a:ext cx="1035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REMOTE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6C27740-569D-81B8-40DE-0AED220AAE66}"/>
              </a:ext>
            </a:extLst>
          </p:cNvPr>
          <p:cNvSpPr txBox="1"/>
          <p:nvPr/>
        </p:nvSpPr>
        <p:spPr>
          <a:xfrm>
            <a:off x="7130198" y="2244457"/>
            <a:ext cx="1035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REMOTE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C8FFD57-38DF-7B71-1D2C-DD5BAE6EBA8D}"/>
              </a:ext>
            </a:extLst>
          </p:cNvPr>
          <p:cNvSpPr txBox="1"/>
          <p:nvPr/>
        </p:nvSpPr>
        <p:spPr>
          <a:xfrm>
            <a:off x="3247747" y="3059668"/>
            <a:ext cx="553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SET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E89D2BD-3205-A64E-1587-045372731542}"/>
              </a:ext>
            </a:extLst>
          </p:cNvPr>
          <p:cNvSpPr txBox="1"/>
          <p:nvPr/>
        </p:nvSpPr>
        <p:spPr>
          <a:xfrm>
            <a:off x="4322173" y="3677032"/>
            <a:ext cx="1441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Mozgás vége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C244EFA-9782-5378-B312-799596AC2D05}"/>
              </a:ext>
            </a:extLst>
          </p:cNvPr>
          <p:cNvSpPr txBox="1"/>
          <p:nvPr/>
        </p:nvSpPr>
        <p:spPr>
          <a:xfrm>
            <a:off x="5712981" y="3335531"/>
            <a:ext cx="1340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Free </a:t>
            </a:r>
            <a:r>
              <a:rPr lang="hu-HU" dirty="0" err="1"/>
              <a:t>moove</a:t>
            </a:r>
            <a:endParaRPr lang="hu-HU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1551ECF-A659-6F00-2FBC-96BB3A7BC51E}"/>
              </a:ext>
            </a:extLst>
          </p:cNvPr>
          <p:cNvSpPr txBox="1"/>
          <p:nvPr/>
        </p:nvSpPr>
        <p:spPr>
          <a:xfrm>
            <a:off x="7999466" y="3307700"/>
            <a:ext cx="1340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Free </a:t>
            </a:r>
            <a:r>
              <a:rPr lang="hu-HU" dirty="0" err="1"/>
              <a:t>moove</a:t>
            </a:r>
            <a:endParaRPr lang="hu-HU" dirty="0"/>
          </a:p>
        </p:txBody>
      </p:sp>
      <p:sp>
        <p:nvSpPr>
          <p:cNvPr id="100" name="Multiplication Sign 99">
            <a:extLst>
              <a:ext uri="{FF2B5EF4-FFF2-40B4-BE49-F238E27FC236}">
                <a16:creationId xmlns:a16="http://schemas.microsoft.com/office/drawing/2014/main" id="{ADA4F4BF-1FA2-6CD9-4A65-026D170EB126}"/>
              </a:ext>
            </a:extLst>
          </p:cNvPr>
          <p:cNvSpPr/>
          <p:nvPr/>
        </p:nvSpPr>
        <p:spPr>
          <a:xfrm>
            <a:off x="4250426" y="3952293"/>
            <a:ext cx="611135" cy="646331"/>
          </a:xfrm>
          <a:prstGeom prst="mathMultiply">
            <a:avLst/>
          </a:prstGeom>
          <a:solidFill>
            <a:srgbClr val="FF0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01" name="Multiplication Sign 100">
            <a:extLst>
              <a:ext uri="{FF2B5EF4-FFF2-40B4-BE49-F238E27FC236}">
                <a16:creationId xmlns:a16="http://schemas.microsoft.com/office/drawing/2014/main" id="{7D72E5C3-A097-E76D-50C7-CCF3558C7FE0}"/>
              </a:ext>
            </a:extLst>
          </p:cNvPr>
          <p:cNvSpPr/>
          <p:nvPr/>
        </p:nvSpPr>
        <p:spPr>
          <a:xfrm>
            <a:off x="9470892" y="3910201"/>
            <a:ext cx="611135" cy="646331"/>
          </a:xfrm>
          <a:prstGeom prst="mathMultiply">
            <a:avLst/>
          </a:prstGeom>
          <a:solidFill>
            <a:srgbClr val="FF0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02" name="Multiplication Sign 101">
            <a:extLst>
              <a:ext uri="{FF2B5EF4-FFF2-40B4-BE49-F238E27FC236}">
                <a16:creationId xmlns:a16="http://schemas.microsoft.com/office/drawing/2014/main" id="{24484A2D-AC9D-CF91-F003-D7F72C9AC0C1}"/>
              </a:ext>
            </a:extLst>
          </p:cNvPr>
          <p:cNvSpPr/>
          <p:nvPr/>
        </p:nvSpPr>
        <p:spPr>
          <a:xfrm>
            <a:off x="10386219" y="1223921"/>
            <a:ext cx="611135" cy="646331"/>
          </a:xfrm>
          <a:prstGeom prst="mathMultiply">
            <a:avLst/>
          </a:prstGeom>
          <a:solidFill>
            <a:srgbClr val="FF0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816182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EC0C0931-3D11-CCF6-A9DA-54CC0231D6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316" y="1576146"/>
            <a:ext cx="2908603" cy="22027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37CCB9-1DDE-2B64-9342-8478066DE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20"/>
            <a:ext cx="10515600" cy="1325563"/>
          </a:xfrm>
        </p:spPr>
        <p:txBody>
          <a:bodyPr/>
          <a:lstStyle/>
          <a:p>
            <a:r>
              <a:rPr lang="hu-HU" dirty="0"/>
              <a:t>Kezelőfelület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A7BAC5-F133-E08C-B04F-A271E891A1D5}"/>
              </a:ext>
            </a:extLst>
          </p:cNvPr>
          <p:cNvSpPr txBox="1"/>
          <p:nvPr/>
        </p:nvSpPr>
        <p:spPr>
          <a:xfrm>
            <a:off x="1676400" y="1109863"/>
            <a:ext cx="830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Kijelző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05AADF-18F7-2DC7-3573-54371F95FAEB}"/>
              </a:ext>
            </a:extLst>
          </p:cNvPr>
          <p:cNvSpPr txBox="1"/>
          <p:nvPr/>
        </p:nvSpPr>
        <p:spPr>
          <a:xfrm>
            <a:off x="5548551" y="1109863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err="1"/>
              <a:t>Numpad</a:t>
            </a:r>
            <a:endParaRPr lang="hu-H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C8E9BE-F384-98AF-B923-C3047549315D}"/>
              </a:ext>
            </a:extLst>
          </p:cNvPr>
          <p:cNvSpPr txBox="1"/>
          <p:nvPr/>
        </p:nvSpPr>
        <p:spPr>
          <a:xfrm>
            <a:off x="9769713" y="1139277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Gombok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7E4B76-FC10-8539-928A-90DD9FF247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467" b="90800" l="9842" r="89895">
                        <a14:foregroundMark x1="35149" y1="9867" x2="35149" y2="9867"/>
                        <a14:foregroundMark x1="44288" y1="5467" x2="44288" y2="5467"/>
                        <a14:foregroundMark x1="47364" y1="90933" x2="47364" y2="90933"/>
                        <a14:foregroundMark x1="9842" y1="24800" x2="9842" y2="24800"/>
                        <a14:backgroundMark x1="12742" y1="25067" x2="12742" y2="25067"/>
                        <a14:backgroundMark x1="46397" y1="88667" x2="46397" y2="88667"/>
                        <a14:backgroundMark x1="82689" y1="50800" x2="82689" y2="50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2191" y="2956755"/>
            <a:ext cx="5598269" cy="36895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3B7911-6762-62FA-ACD5-E4CFA68945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696" b="96149" l="2979" r="96596">
                        <a14:foregroundMark x1="8085" y1="26829" x2="8085" y2="26829"/>
                        <a14:foregroundMark x1="2979" y1="31836" x2="2979" y2="31836"/>
                        <a14:foregroundMark x1="54149" y1="91271" x2="54149" y2="91271"/>
                        <a14:foregroundMark x1="50000" y1="96149" x2="50000" y2="96149"/>
                        <a14:foregroundMark x1="92778" y1="44708" x2="93617" y2="43132"/>
                        <a14:foregroundMark x1="92181" y1="45828" x2="92374" y2="45466"/>
                        <a14:foregroundMark x1="89787" y1="50321" x2="92181" y2="45828"/>
                        <a14:foregroundMark x1="93617" y1="43132" x2="91277" y2="41849"/>
                        <a14:foregroundMark x1="96702" y1="46213" x2="96702" y2="46213"/>
                        <a14:foregroundMark x1="36702" y1="10141" x2="51383" y2="4365"/>
                        <a14:foregroundMark x1="51383" y1="4365" x2="57660" y2="9243"/>
                        <a14:foregroundMark x1="57660" y1="9243" x2="53085" y2="2696"/>
                        <a14:foregroundMark x1="53085" y1="2696" x2="54468" y2="4236"/>
                        <a14:foregroundMark x1="45532" y1="67266" x2="47128" y2="67908"/>
                        <a14:foregroundMark x1="49255" y1="60591" x2="49255" y2="60591"/>
                        <a14:foregroundMark x1="49255" y1="60591" x2="49255" y2="60591"/>
                        <a14:foregroundMark x1="49362" y1="60591" x2="49043" y2="60976"/>
                        <a14:backgroundMark x1="6383" y1="31964" x2="6383" y2="31964"/>
                        <a14:backgroundMark x1="55000" y1="64056" x2="55000" y2="64056"/>
                        <a14:backgroundMark x1="47340" y1="71502" x2="47340" y2="71502"/>
                        <a14:backgroundMark x1="46064" y1="68293" x2="46064" y2="68293"/>
                        <a14:backgroundMark x1="49255" y1="61232" x2="49255" y2="61232"/>
                        <a14:backgroundMark x1="49149" y1="60976" x2="49149" y2="60976"/>
                        <a14:backgroundMark x1="49043" y1="60976" x2="49043" y2="60976"/>
                        <a14:backgroundMark x1="92234" y1="45058" x2="92234" y2="45058"/>
                        <a14:backgroundMark x1="93191" y1="45828" x2="92128" y2="44801"/>
                        <a14:backgroundMark x1="92553" y1="45443" x2="92553" y2="45443"/>
                        <a14:backgroundMark x1="92447" y1="45443" x2="92447" y2="45443"/>
                        <a14:backgroundMark x1="92340" y1="45443" x2="92340" y2="45443"/>
                        <a14:backgroundMark x1="92766" y1="44929" x2="92766" y2="44929"/>
                        <a14:backgroundMark x1="92447" y1="45828" x2="92447" y2="4582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62357" y="3269590"/>
            <a:ext cx="3697100" cy="30638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8E251F1-B707-6C2F-AADE-4E388E3F6C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360" b="97920" l="3694" r="97757">
                        <a14:foregroundMark x1="11346" y1="20480" x2="7256" y2="28480"/>
                        <a14:foregroundMark x1="7256" y1="28480" x2="10950" y2="35680"/>
                        <a14:foregroundMark x1="10950" y1="35680" x2="3694" y2="38560"/>
                        <a14:foregroundMark x1="4658" y1="40160" x2="6201" y2="42720"/>
                        <a14:foregroundMark x1="3694" y1="38560" x2="4658" y2="40160"/>
                        <a14:foregroundMark x1="45251" y1="9920" x2="55409" y2="8800"/>
                        <a14:foregroundMark x1="67150" y1="6720" x2="59499" y2="3360"/>
                        <a14:foregroundMark x1="59499" y1="3360" x2="59367" y2="7680"/>
                        <a14:foregroundMark x1="93140" y1="46400" x2="94195" y2="41280"/>
                        <a14:foregroundMark x1="98021" y1="44320" x2="98153" y2="45120"/>
                        <a14:foregroundMark x1="41029" y1="92800" x2="41029" y2="92800"/>
                        <a14:foregroundMark x1="36939" y1="96960" x2="36939" y2="96960"/>
                        <a14:foregroundMark x1="36675" y1="97920" x2="36675" y2="97920"/>
                        <a14:foregroundMark x1="35899" y1="87871" x2="33773" y2="88000"/>
                        <a14:foregroundMark x1="36301" y1="88852" x2="35620" y2="88800"/>
                        <a14:foregroundMark x1="38545" y1="89280" x2="39314" y2="90400"/>
                        <a14:foregroundMark x1="37995" y1="88480" x2="38545" y2="89280"/>
                        <a14:foregroundMark x1="39974" y1="89600" x2="39578" y2="91200"/>
                        <a14:foregroundMark x1="39446" y1="92960" x2="39446" y2="92960"/>
                        <a14:foregroundMark x1="39446" y1="92960" x2="39499" y2="92513"/>
                        <a14:foregroundMark x1="40106" y1="90400" x2="40106" y2="90400"/>
                        <a14:foregroundMark x1="39710" y1="91360" x2="39710" y2="91360"/>
                        <a14:foregroundMark x1="39710" y1="91520" x2="39710" y2="91520"/>
                        <a14:foregroundMark x1="40106" y1="91520" x2="40106" y2="91520"/>
                        <a14:foregroundMark x1="40106" y1="91520" x2="39578" y2="91360"/>
                        <a14:foregroundMark x1="39578" y1="91200" x2="41557" y2="90240"/>
                        <a14:foregroundMark x1="39974" y1="89280" x2="39710" y2="88000"/>
                        <a14:foregroundMark x1="40369" y1="91200" x2="39974" y2="89280"/>
                        <a14:backgroundMark x1="6992" y1="40160" x2="6992" y2="40160"/>
                        <a14:backgroundMark x1="10950" y1="26720" x2="10950" y2="26720"/>
                        <a14:backgroundMark x1="36939" y1="90240" x2="36939" y2="90240"/>
                        <a14:backgroundMark x1="36939" y1="88640" x2="36939" y2="88640"/>
                        <a14:backgroundMark x1="37995" y1="89280" x2="36939" y2="88960"/>
                        <a14:backgroundMark x1="38786" y1="90240" x2="36280" y2="88800"/>
                        <a14:backgroundMark x1="38127" y1="89280" x2="38127" y2="8928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231" y="3642151"/>
            <a:ext cx="3771807" cy="3109999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8845837-BD31-7837-E39E-1FD0420F328D}"/>
              </a:ext>
            </a:extLst>
          </p:cNvPr>
          <p:cNvCxnSpPr/>
          <p:nvPr/>
        </p:nvCxnSpPr>
        <p:spPr>
          <a:xfrm>
            <a:off x="4041648" y="1139277"/>
            <a:ext cx="0" cy="56641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8084E62-EDE6-7679-05B9-D6992F4B6D9F}"/>
              </a:ext>
            </a:extLst>
          </p:cNvPr>
          <p:cNvCxnSpPr/>
          <p:nvPr/>
        </p:nvCxnSpPr>
        <p:spPr>
          <a:xfrm>
            <a:off x="8439912" y="1193898"/>
            <a:ext cx="0" cy="56641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644FE29-E64B-A13B-4006-F31BBAE74054}"/>
              </a:ext>
            </a:extLst>
          </p:cNvPr>
          <p:cNvSpPr txBox="1"/>
          <p:nvPr/>
        </p:nvSpPr>
        <p:spPr>
          <a:xfrm>
            <a:off x="4206240" y="1691640"/>
            <a:ext cx="25292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Analóg</a:t>
            </a:r>
            <a:br>
              <a:rPr lang="hu-HU" dirty="0"/>
            </a:br>
            <a:r>
              <a:rPr lang="hu-HU" dirty="0"/>
              <a:t>Szűrt jel</a:t>
            </a:r>
          </a:p>
          <a:p>
            <a:r>
              <a:rPr lang="hu-HU" dirty="0"/>
              <a:t>Referencia visszamérve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9B7A10-B169-6CFB-E941-052E8594B5D8}"/>
              </a:ext>
            </a:extLst>
          </p:cNvPr>
          <p:cNvSpPr txBox="1"/>
          <p:nvPr/>
        </p:nvSpPr>
        <p:spPr>
          <a:xfrm>
            <a:off x="8879662" y="1754200"/>
            <a:ext cx="1606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/>
              <a:t>HW </a:t>
            </a:r>
            <a:r>
              <a:rPr lang="hu-HU" dirty="0" err="1"/>
              <a:t>debounce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5105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51DA9-1139-B236-2468-B3F0CE770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hu-HU" dirty="0"/>
              <a:t>Fő panel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F36E42-12B9-4FCC-AC80-AD0A37952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1007686"/>
            <a:ext cx="11402568" cy="585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09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A9B0A-6FD5-33F9-89A1-C8F556BFF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hu-HU" dirty="0"/>
              <a:t>Mozgatás</a:t>
            </a:r>
          </a:p>
        </p:txBody>
      </p:sp>
      <p:pic>
        <p:nvPicPr>
          <p:cNvPr id="4" name="Kép 1" descr="A képen szöveg, sor, Diagram, diagra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805D8D38-EAD5-822B-0BC3-2F1BC3ED8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065452"/>
            <a:ext cx="5955007" cy="579254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6AB911E-65A0-93A8-FDD1-7BD8160E8F11}"/>
              </a:ext>
            </a:extLst>
          </p:cNvPr>
          <p:cNvSpPr/>
          <p:nvPr/>
        </p:nvSpPr>
        <p:spPr>
          <a:xfrm>
            <a:off x="6236996" y="3866920"/>
            <a:ext cx="5870541" cy="3305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BUSZ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925932-2F31-F8EB-88EB-3E6909AA0586}"/>
              </a:ext>
            </a:extLst>
          </p:cNvPr>
          <p:cNvSpPr/>
          <p:nvPr/>
        </p:nvSpPr>
        <p:spPr>
          <a:xfrm>
            <a:off x="6236997" y="1798369"/>
            <a:ext cx="1962839" cy="17865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CPU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C687EB-27E5-A120-2623-A651DFBD6B29}"/>
              </a:ext>
            </a:extLst>
          </p:cNvPr>
          <p:cNvSpPr/>
          <p:nvPr/>
        </p:nvSpPr>
        <p:spPr>
          <a:xfrm>
            <a:off x="8489221" y="1883616"/>
            <a:ext cx="1962838" cy="54822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Periféria</a:t>
            </a:r>
          </a:p>
          <a:p>
            <a:pPr algn="ctr"/>
            <a:r>
              <a:rPr lang="hu-HU" dirty="0">
                <a:solidFill>
                  <a:schemeClr val="tx1"/>
                </a:solidFill>
              </a:rPr>
              <a:t>(</a:t>
            </a:r>
            <a:r>
              <a:rPr lang="hu-HU" dirty="0" err="1">
                <a:solidFill>
                  <a:schemeClr val="tx1"/>
                </a:solidFill>
              </a:rPr>
              <a:t>timer</a:t>
            </a:r>
            <a:r>
              <a:rPr lang="hu-HU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3C1613-5600-A0CD-AB0D-E965FFD5A157}"/>
              </a:ext>
            </a:extLst>
          </p:cNvPr>
          <p:cNvSpPr/>
          <p:nvPr/>
        </p:nvSpPr>
        <p:spPr>
          <a:xfrm>
            <a:off x="10741445" y="1792861"/>
            <a:ext cx="1366092" cy="178656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Memória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D17D6A-E8EB-2CFC-D10D-F10BF9AFC61B}"/>
              </a:ext>
            </a:extLst>
          </p:cNvPr>
          <p:cNvSpPr/>
          <p:nvPr/>
        </p:nvSpPr>
        <p:spPr>
          <a:xfrm>
            <a:off x="8880584" y="2875268"/>
            <a:ext cx="1180112" cy="5482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DMA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2BF2CD8-1230-3D41-8884-FFE9C3013A82}"/>
              </a:ext>
            </a:extLst>
          </p:cNvPr>
          <p:cNvCxnSpPr>
            <a:stCxn id="16" idx="2"/>
          </p:cNvCxnSpPr>
          <p:nvPr/>
        </p:nvCxnSpPr>
        <p:spPr>
          <a:xfrm>
            <a:off x="9470640" y="3423491"/>
            <a:ext cx="0" cy="44342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FA23CB2-9475-CB31-FE3C-F383DE76CAB1}"/>
              </a:ext>
            </a:extLst>
          </p:cNvPr>
          <p:cNvCxnSpPr>
            <a:stCxn id="15" idx="2"/>
          </p:cNvCxnSpPr>
          <p:nvPr/>
        </p:nvCxnSpPr>
        <p:spPr>
          <a:xfrm>
            <a:off x="11424491" y="3579430"/>
            <a:ext cx="0" cy="28749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F774289-14E1-D13B-9AF9-CCDF2FEF84C8}"/>
              </a:ext>
            </a:extLst>
          </p:cNvPr>
          <p:cNvCxnSpPr/>
          <p:nvPr/>
        </p:nvCxnSpPr>
        <p:spPr>
          <a:xfrm>
            <a:off x="7194546" y="3555034"/>
            <a:ext cx="0" cy="28749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9A38B8F-9F74-9F39-C04F-CFDE5EB21E22}"/>
              </a:ext>
            </a:extLst>
          </p:cNvPr>
          <p:cNvCxnSpPr>
            <a:endCxn id="16" idx="1"/>
          </p:cNvCxnSpPr>
          <p:nvPr/>
        </p:nvCxnSpPr>
        <p:spPr>
          <a:xfrm>
            <a:off x="8199836" y="3149379"/>
            <a:ext cx="680748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D644C8F-AA95-03FD-9774-8684F861BB7B}"/>
              </a:ext>
            </a:extLst>
          </p:cNvPr>
          <p:cNvCxnSpPr>
            <a:stCxn id="10" idx="2"/>
            <a:endCxn id="16" idx="0"/>
          </p:cNvCxnSpPr>
          <p:nvPr/>
        </p:nvCxnSpPr>
        <p:spPr>
          <a:xfrm>
            <a:off x="9470640" y="2431839"/>
            <a:ext cx="0" cy="44342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Arrow: Curved Up 25">
            <a:extLst>
              <a:ext uri="{FF2B5EF4-FFF2-40B4-BE49-F238E27FC236}">
                <a16:creationId xmlns:a16="http://schemas.microsoft.com/office/drawing/2014/main" id="{7307C52E-1CAA-9A7C-9623-23D607D7E7A6}"/>
              </a:ext>
            </a:extLst>
          </p:cNvPr>
          <p:cNvSpPr/>
          <p:nvPr/>
        </p:nvSpPr>
        <p:spPr>
          <a:xfrm flipH="1">
            <a:off x="9100948" y="2192749"/>
            <a:ext cx="2477773" cy="2029065"/>
          </a:xfrm>
          <a:prstGeom prst="curvedUpArrow">
            <a:avLst/>
          </a:prstGeom>
          <a:solidFill>
            <a:schemeClr val="bg1">
              <a:lumMod val="85000"/>
              <a:alpha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CEEC0DD-6FE2-2F0F-B546-F0CD6AAD6E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867" y="4302743"/>
            <a:ext cx="4979624" cy="246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86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7E964-B456-5049-2000-D23240E2A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8A5AF-3208-CB80-D52A-B26AA0F31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4346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</Words>
  <Application>Microsoft Office PowerPoint</Application>
  <PresentationFormat>Widescreen</PresentationFormat>
  <Paragraphs>77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Symbol</vt:lpstr>
      <vt:lpstr>Times New Roman</vt:lpstr>
      <vt:lpstr>Office Theme</vt:lpstr>
      <vt:lpstr>K.I.T.T.E.N.</vt:lpstr>
      <vt:lpstr>Feladat: Gyorsulásmérő szenzorok pozicionálása</vt:lpstr>
      <vt:lpstr>Követelmények</vt:lpstr>
      <vt:lpstr>PowerPoint Presentation</vt:lpstr>
      <vt:lpstr>Állapotgép</vt:lpstr>
      <vt:lpstr>Kezelőfelület</vt:lpstr>
      <vt:lpstr>Fő panel</vt:lpstr>
      <vt:lpstr>Mozgatás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FIXED-TERM Sasdi Andras (ME-SE/ESB-T3)</dc:creator>
  <cp:lastModifiedBy>FIXED-TERM Sasdi Andras (ME-SE/ESB-T3)</cp:lastModifiedBy>
  <cp:revision>2</cp:revision>
  <dcterms:created xsi:type="dcterms:W3CDTF">2025-11-17T12:15:24Z</dcterms:created>
  <dcterms:modified xsi:type="dcterms:W3CDTF">2025-11-17T16:05:21Z</dcterms:modified>
</cp:coreProperties>
</file>