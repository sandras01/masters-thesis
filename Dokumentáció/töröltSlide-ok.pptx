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72" r:id="rId2"/>
    <p:sldId id="300" r:id="rId3"/>
    <p:sldId id="259" r:id="rId4"/>
    <p:sldId id="282" r:id="rId5"/>
    <p:sldId id="301" r:id="rId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20:03:47.056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23869.29688"/>
      <inkml:brushProperty name="anchorY" value="-28335.93945"/>
      <inkml:brushProperty name="scaleFactor" value="0.5"/>
    </inkml:brush>
  </inkml:definitions>
  <inkml:trace contextRef="#ctx0" brushRef="#br0">1 0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1B780-B170-47CA-9EE9-CCB35694F5CF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D282DB-9DA1-4BA6-B561-CC10DD49731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5144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95260D-70BF-4DA4-9FB7-4DFB893DF0CF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1761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Akár 3tengelyes gyorsulásmérő szenzor bármely tengelye párhuzamos tudjon lenni a g-vel</a:t>
            </a:r>
          </a:p>
          <a:p>
            <a:r>
              <a:rPr lang="hu-HU" dirty="0"/>
              <a:t>Legalább két tengely körül forgatott forgóasztal</a:t>
            </a:r>
          </a:p>
          <a:p>
            <a:r>
              <a:rPr lang="hu-HU" dirty="0"/>
              <a:t>Nézzük hogyan oldható meg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5C3465-9801-4AAD-B0D2-09C1F0DC2EC5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9870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F8E85-E9CE-4616-8725-01B4A845C18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4232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F4177-8E86-6FAF-2642-E3CDEF109F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B01E1A-EA22-6C7B-7208-4C37775D88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FE9010-E4D6-BD5F-B63A-2C6FFB538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1B832-35A1-2E6C-7FEF-868E086D4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00B80C-CAA0-F28D-7F65-C988F1252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07154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A7E6-2A2D-CD1D-C21F-91E5E032B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CCDA5-4639-0618-BDB6-6057BCD5C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971CB-18BD-9972-7847-CEA4558D8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296E7D-6C44-A363-2A61-9513AF0AD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9C58A-49DF-5BD2-20F3-1AAB0025A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96892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8AB85-3822-BAD5-FC6A-7CCFA4018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81ACD-56F5-172F-0900-460FDD81BF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F58043-B596-DE7B-C614-1E7923689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8F3D4-068D-4BD5-E965-2B570A467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6789D-998F-770B-8A4A-ABDC2D54A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87333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12F1C-3E74-4736-2F95-DFE7E2BC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50E67-2B3D-8691-BBD4-CC5A5C1B24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08F80C-829A-00C6-32B7-90CDAF01CF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6CF561-9123-5E1B-924F-4979A2EF3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D1B04F-261A-16E4-6DF5-7E98B4656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074424-F151-78BF-5405-9E860113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92267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77568-6871-AB96-C1E5-123CA83F7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B82A8-C9A9-05E1-512C-73E43038E6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F3DBCB-8B6E-3F47-6817-7D3D2B1470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F490BE-AD9A-F2A5-364B-B200BFF519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9957A6-4AB2-23AF-9293-066DF4277D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4BE643-FD33-9440-4448-0992135C8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BFAEE1-677D-1442-773C-39DF47683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0818DB-7A9F-BE56-906E-C27BE7EDF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5334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EA3B0-BD2E-BC53-56A3-538B8E69B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139ADA-DFCC-654B-9185-9CCD6405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66E31-97DD-74F2-9687-76BD162D4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2EFB5E-4B9A-7F95-3B75-44DB034EB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2951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37185E-C0B9-B62E-DDE5-5BD13E2E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5A726F-A6A4-1D39-2A77-D79BA954A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D0EB2E-1BF9-0BA0-0C9C-722249DE8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025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BB37E-0D9F-E553-DC9A-670C11740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62E1A-4F66-D666-7E02-D140B31F5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CD6C18-82C6-EEF2-4B0B-0C48F69DEB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0BFA69-C3EA-A700-7CA7-92CB32E1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6DE8B8-11FC-782C-67E4-452F2FA7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5F4AE6-C3D5-E1F8-0F15-D7631AF23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0412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9C36E-582E-40C8-6A5E-2BCE9E26D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C27CA8-FD82-38C8-1FB7-E342C478DD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124D07-0D08-D0BE-17DE-7826FD0D18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B40DC-06EC-BA10-04AD-AC4004344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4380C7-D38C-9241-8051-E998BB10E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D63F76-3E9E-76BA-73AE-BD634980B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9907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3337D-E6AB-83AB-AEA8-10D1F83B2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53F75D-E671-A2F9-A410-959A68C19F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EA4B8-BEDC-C2BB-FB56-668880E8C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79769-7E9B-52F5-0BD6-2878FF89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C4019-C0A0-7A93-87EF-79604CD47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98887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3FC97C-4151-AA1A-3978-E046B61C6C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160D6F-8077-C140-2CCC-04D11A2F62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97681-3E2C-13D2-A5A1-8293784FC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B9C61-CB5B-F7A2-0E6D-4BDB88DFD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3E3385-B782-2E47-FDD4-6B65899F2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4708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2ACA92-B2BB-AF18-3AC8-317EEDDC9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423C-5479-AF14-3D63-52F78C0A9A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11406-B5A0-A257-4B5E-29277856DD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2CC055-4ABB-424F-B0F1-91EA345464D4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88177-B0EE-1207-A681-12E60FD915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A2EA2-A7A6-13FB-8318-83F9C3EB9F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680D97-A610-4BF3-BA40-4BCD243F66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53526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A2BA02-E7E1-793E-E305-5EC6248F0FF6}"/>
              </a:ext>
            </a:extLst>
          </p:cNvPr>
          <p:cNvSpPr/>
          <p:nvPr/>
        </p:nvSpPr>
        <p:spPr>
          <a:xfrm>
            <a:off x="0" y="1029141"/>
            <a:ext cx="3769743" cy="542773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3908202-9770-DDBB-AAE8-BF53A9F61F92}"/>
              </a:ext>
            </a:extLst>
          </p:cNvPr>
          <p:cNvSpPr/>
          <p:nvPr/>
        </p:nvSpPr>
        <p:spPr>
          <a:xfrm>
            <a:off x="4211128" y="1029141"/>
            <a:ext cx="3769743" cy="542773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05394B4-DAB8-1F35-A24F-ABD94AB598AA}"/>
              </a:ext>
            </a:extLst>
          </p:cNvPr>
          <p:cNvSpPr/>
          <p:nvPr/>
        </p:nvSpPr>
        <p:spPr>
          <a:xfrm>
            <a:off x="8422257" y="1029141"/>
            <a:ext cx="3769743" cy="542773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88AFA2-7C7E-3F41-7496-32C06D7D1A6B}"/>
              </a:ext>
            </a:extLst>
          </p:cNvPr>
          <p:cNvSpPr txBox="1"/>
          <p:nvPr/>
        </p:nvSpPr>
        <p:spPr>
          <a:xfrm>
            <a:off x="-8267" y="1138022"/>
            <a:ext cx="37697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Kiindulás és tervezés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7D122D-6991-1A5E-4E90-92FF60687672}"/>
              </a:ext>
            </a:extLst>
          </p:cNvPr>
          <p:cNvSpPr txBox="1"/>
          <p:nvPr/>
        </p:nvSpPr>
        <p:spPr>
          <a:xfrm>
            <a:off x="4211128" y="1136247"/>
            <a:ext cx="3769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Deszkamodell, driverek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D6D863-E95A-A8ED-BADA-D2F835363611}"/>
              </a:ext>
            </a:extLst>
          </p:cNvPr>
          <p:cNvSpPr txBox="1"/>
          <p:nvPr/>
        </p:nvSpPr>
        <p:spPr>
          <a:xfrm>
            <a:off x="8422256" y="1136246"/>
            <a:ext cx="37697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Funkcionális prototípus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4897081-4B54-BE7C-973B-E835E7149204}"/>
              </a:ext>
            </a:extLst>
          </p:cNvPr>
          <p:cNvSpPr/>
          <p:nvPr/>
        </p:nvSpPr>
        <p:spPr>
          <a:xfrm>
            <a:off x="353323" y="1647013"/>
            <a:ext cx="3048000" cy="96806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Megoldandó probléma megállapítása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83D5A17-2863-BCEB-955D-90AECDB28099}"/>
              </a:ext>
            </a:extLst>
          </p:cNvPr>
          <p:cNvSpPr/>
          <p:nvPr/>
        </p:nvSpPr>
        <p:spPr>
          <a:xfrm>
            <a:off x="353323" y="3042356"/>
            <a:ext cx="3048000" cy="96806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Teljesítendő követelmények meghatározása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0348C92-1730-6463-5E2D-BF5D22EB878F}"/>
              </a:ext>
            </a:extLst>
          </p:cNvPr>
          <p:cNvSpPr/>
          <p:nvPr/>
        </p:nvSpPr>
        <p:spPr>
          <a:xfrm>
            <a:off x="353323" y="4442686"/>
            <a:ext cx="3048000" cy="10506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Szakirodalmi áttekintés és elméleti alapok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F15FD6-2E66-2812-AD42-98D0BB0810A0}"/>
              </a:ext>
            </a:extLst>
          </p:cNvPr>
          <p:cNvSpPr/>
          <p:nvPr/>
        </p:nvSpPr>
        <p:spPr>
          <a:xfrm>
            <a:off x="4563733" y="1643462"/>
            <a:ext cx="3048000" cy="96806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Rendszerarchitektúra és szükséges modulok meghatározása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34666CB-A0BF-BD49-A262-6BB897BDB0A5}"/>
              </a:ext>
            </a:extLst>
          </p:cNvPr>
          <p:cNvSpPr/>
          <p:nvPr/>
        </p:nvSpPr>
        <p:spPr>
          <a:xfrm>
            <a:off x="4563733" y="2856938"/>
            <a:ext cx="3048000" cy="96806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Modulok fejlesztése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1D0B35-E313-C7AE-6BF6-7134D99771B8}"/>
              </a:ext>
            </a:extLst>
          </p:cNvPr>
          <p:cNvSpPr/>
          <p:nvPr/>
        </p:nvSpPr>
        <p:spPr>
          <a:xfrm>
            <a:off x="4563733" y="4070414"/>
            <a:ext cx="3048000" cy="96806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Szoftverintegráció és állapotgép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8604B7F-16B1-3BD8-F100-E8A1E3F61FEB}"/>
              </a:ext>
            </a:extLst>
          </p:cNvPr>
          <p:cNvSpPr/>
          <p:nvPr/>
        </p:nvSpPr>
        <p:spPr>
          <a:xfrm>
            <a:off x="4572000" y="5283891"/>
            <a:ext cx="3048000" cy="96806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Nyomtatott áramkörök tervezése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FBF235E-6819-8A56-DBD5-407D5B4545B9}"/>
              </a:ext>
            </a:extLst>
          </p:cNvPr>
          <p:cNvSpPr/>
          <p:nvPr/>
        </p:nvSpPr>
        <p:spPr>
          <a:xfrm>
            <a:off x="8790677" y="1643461"/>
            <a:ext cx="3048000" cy="968061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Rendszerszintű funkcionalitás elérése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F0EAD033-9A87-0C71-FF5B-0F7ACDAF189D}"/>
              </a:ext>
            </a:extLst>
          </p:cNvPr>
          <p:cNvSpPr/>
          <p:nvPr/>
        </p:nvSpPr>
        <p:spPr>
          <a:xfrm>
            <a:off x="8783128" y="2856937"/>
            <a:ext cx="3048000" cy="968061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Mechanikai kivitelezés és végső integráció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73F7410-941E-A1E1-DC9E-8748C5876C21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3769743" y="3743006"/>
            <a:ext cx="441385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C0396AC-0D07-9486-8134-31ADEFC38467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7980871" y="3743006"/>
            <a:ext cx="441386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ím 5">
            <a:extLst>
              <a:ext uri="{FF2B5EF4-FFF2-40B4-BE49-F238E27FC236}">
                <a16:creationId xmlns:a16="http://schemas.microsoft.com/office/drawing/2014/main" id="{7AD37E91-0D16-C234-E5A6-1134C7825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268" y="0"/>
            <a:ext cx="10515600" cy="1027365"/>
          </a:xfrm>
        </p:spPr>
        <p:txBody>
          <a:bodyPr/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Projekt ütemterve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CA8593-80CE-ADC7-E9BF-9A201B407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3E937-67EB-4C28-87C2-34258DECF31E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38819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4" grpId="0" animBg="1"/>
      <p:bldP spid="15" grpId="0" animBg="1"/>
      <p:bldP spid="17" grpId="0"/>
      <p:bldP spid="18" grpId="0"/>
      <p:bldP spid="19" grpId="0"/>
      <p:bldP spid="20" grpId="0" animBg="1"/>
      <p:bldP spid="21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6FCA19-53F1-A39B-1A5F-5CD2DFA63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Tengelyek elrendezése</a:t>
            </a:r>
            <a:endParaRPr lang="hu-HU" dirty="0"/>
          </a:p>
        </p:txBody>
      </p:sp>
      <p:pic>
        <p:nvPicPr>
          <p:cNvPr id="14" name="Kép 13" descr="A képen szöveg, kézírás, rajz, tint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60D6E975-332D-3B96-73B0-E164C9ED1E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003" b="61544"/>
          <a:stretch/>
        </p:blipFill>
        <p:spPr>
          <a:xfrm>
            <a:off x="8008219" y="1838771"/>
            <a:ext cx="3722080" cy="4818432"/>
          </a:xfrm>
          <a:prstGeom prst="rect">
            <a:avLst/>
          </a:prstGeom>
        </p:spPr>
      </p:pic>
      <p:pic>
        <p:nvPicPr>
          <p:cNvPr id="15" name="Kép 14" descr="A képen szöveg, kézírás, rajz, tint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61E39487-6268-5DB8-DAD4-15765346FF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9" t="9006" r="76424" b="76538"/>
          <a:stretch/>
        </p:blipFill>
        <p:spPr>
          <a:xfrm>
            <a:off x="838200" y="2743200"/>
            <a:ext cx="2338663" cy="2483318"/>
          </a:xfrm>
          <a:prstGeom prst="rect">
            <a:avLst/>
          </a:prstGeom>
        </p:spPr>
      </p:pic>
      <p:pic>
        <p:nvPicPr>
          <p:cNvPr id="16" name="Kép 15" descr="A képen szöveg, kézírás, rajz, tint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DC87427-EE1F-BF52-09CA-FD77B65827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04" t="24444" r="43881" b="49731"/>
          <a:stretch/>
        </p:blipFill>
        <p:spPr>
          <a:xfrm>
            <a:off x="3892415" y="2499844"/>
            <a:ext cx="4407169" cy="3323439"/>
          </a:xfrm>
          <a:prstGeom prst="rect">
            <a:avLst/>
          </a:prstGeom>
        </p:spPr>
      </p:pic>
      <p:cxnSp>
        <p:nvCxnSpPr>
          <p:cNvPr id="4" name="Egyenes összekötő nyíllal 3">
            <a:extLst>
              <a:ext uri="{FF2B5EF4-FFF2-40B4-BE49-F238E27FC236}">
                <a16:creationId xmlns:a16="http://schemas.microsoft.com/office/drawing/2014/main" id="{3FD24685-C1FE-D8BF-8E24-7C8D3DFC0B15}"/>
              </a:ext>
            </a:extLst>
          </p:cNvPr>
          <p:cNvCxnSpPr/>
          <p:nvPr/>
        </p:nvCxnSpPr>
        <p:spPr>
          <a:xfrm>
            <a:off x="6489700" y="4330700"/>
            <a:ext cx="2032000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9EAAFB-5314-9FF9-AB9A-A83A29CBB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3E937-67EB-4C28-87C2-34258DECF31E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20843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48" name="Szabadkéz 47">
                <a:extLst>
                  <a:ext uri="{FF2B5EF4-FFF2-40B4-BE49-F238E27FC236}">
                    <a16:creationId xmlns:a16="http://schemas.microsoft.com/office/drawing/2014/main" id="{553BCF60-ADF9-AC98-741C-52AED89E3DCD}"/>
                  </a:ext>
                </a:extLst>
              </p14:cNvPr>
              <p14:cNvContentPartPr/>
              <p14:nvPr/>
            </p14:nvContentPartPr>
            <p14:xfrm>
              <a:off x="-1535486" y="6585806"/>
              <a:ext cx="360" cy="360"/>
            </p14:xfrm>
          </p:contentPart>
        </mc:Choice>
        <mc:Fallback xmlns="">
          <p:pic>
            <p:nvPicPr>
              <p:cNvPr id="48" name="Szabadkéz 47">
                <a:extLst>
                  <a:ext uri="{FF2B5EF4-FFF2-40B4-BE49-F238E27FC236}">
                    <a16:creationId xmlns:a16="http://schemas.microsoft.com/office/drawing/2014/main" id="{553BCF60-ADF9-AC98-741C-52AED89E3DC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544486" y="657680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" name="Csoportba foglalás 105">
            <a:extLst>
              <a:ext uri="{FF2B5EF4-FFF2-40B4-BE49-F238E27FC236}">
                <a16:creationId xmlns:a16="http://schemas.microsoft.com/office/drawing/2014/main" id="{0CC9E5B2-E218-6D5B-6306-AD1E2882EC06}"/>
              </a:ext>
            </a:extLst>
          </p:cNvPr>
          <p:cNvGrpSpPr/>
          <p:nvPr/>
        </p:nvGrpSpPr>
        <p:grpSpPr>
          <a:xfrm>
            <a:off x="83842" y="742608"/>
            <a:ext cx="4365172" cy="5214257"/>
            <a:chOff x="83842" y="742608"/>
            <a:chExt cx="4365172" cy="5214257"/>
          </a:xfrm>
          <a:solidFill>
            <a:srgbClr val="FF9393"/>
          </a:solidFill>
        </p:grpSpPr>
        <p:sp>
          <p:nvSpPr>
            <p:cNvPr id="61" name="Téglalap: lekerekített 60">
              <a:extLst>
                <a:ext uri="{FF2B5EF4-FFF2-40B4-BE49-F238E27FC236}">
                  <a16:creationId xmlns:a16="http://schemas.microsoft.com/office/drawing/2014/main" id="{F06D82D8-495B-149D-4BCF-AF5F9E2A5482}"/>
                </a:ext>
              </a:extLst>
            </p:cNvPr>
            <p:cNvSpPr/>
            <p:nvPr/>
          </p:nvSpPr>
          <p:spPr>
            <a:xfrm>
              <a:off x="83842" y="742608"/>
              <a:ext cx="4365172" cy="5214257"/>
            </a:xfrm>
            <a:prstGeom prst="round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2" name="Szövegdoboz 61">
              <a:extLst>
                <a:ext uri="{FF2B5EF4-FFF2-40B4-BE49-F238E27FC236}">
                  <a16:creationId xmlns:a16="http://schemas.microsoft.com/office/drawing/2014/main" id="{8AF655FC-BE18-191A-6988-EB7C106D117B}"/>
                </a:ext>
              </a:extLst>
            </p:cNvPr>
            <p:cNvSpPr txBox="1"/>
            <p:nvPr/>
          </p:nvSpPr>
          <p:spPr>
            <a:xfrm>
              <a:off x="834957" y="742608"/>
              <a:ext cx="2862943" cy="101566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60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MCU</a:t>
              </a:r>
            </a:p>
          </p:txBody>
        </p:sp>
        <p:sp>
          <p:nvSpPr>
            <p:cNvPr id="64" name="Nyíl: szalag, balra mutató 63">
              <a:extLst>
                <a:ext uri="{FF2B5EF4-FFF2-40B4-BE49-F238E27FC236}">
                  <a16:creationId xmlns:a16="http://schemas.microsoft.com/office/drawing/2014/main" id="{325D68BD-4C38-46CD-E097-7AE10CFAA30B}"/>
                </a:ext>
              </a:extLst>
            </p:cNvPr>
            <p:cNvSpPr/>
            <p:nvPr/>
          </p:nvSpPr>
          <p:spPr>
            <a:xfrm rot="5400000">
              <a:off x="1607843" y="3353428"/>
              <a:ext cx="1208314" cy="1807028"/>
            </a:xfrm>
            <a:prstGeom prst="curvedLeftArrow">
              <a:avLst/>
            </a:prstGeom>
            <a:grpFill/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5" name="Nyíl: szalag, balra mutató 64">
              <a:extLst>
                <a:ext uri="{FF2B5EF4-FFF2-40B4-BE49-F238E27FC236}">
                  <a16:creationId xmlns:a16="http://schemas.microsoft.com/office/drawing/2014/main" id="{05938EA9-1F08-E086-25A7-4B92B315448C}"/>
                </a:ext>
              </a:extLst>
            </p:cNvPr>
            <p:cNvSpPr/>
            <p:nvPr/>
          </p:nvSpPr>
          <p:spPr>
            <a:xfrm rot="16200000">
              <a:off x="1760243" y="1864807"/>
              <a:ext cx="1208314" cy="1807028"/>
            </a:xfrm>
            <a:prstGeom prst="curvedLeftArrow">
              <a:avLst/>
            </a:prstGeom>
            <a:grpFill/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6" name="Szövegdoboz 65">
              <a:extLst>
                <a:ext uri="{FF2B5EF4-FFF2-40B4-BE49-F238E27FC236}">
                  <a16:creationId xmlns:a16="http://schemas.microsoft.com/office/drawing/2014/main" id="{6BD52243-826D-D41B-632F-FB8204A86314}"/>
                </a:ext>
              </a:extLst>
            </p:cNvPr>
            <p:cNvSpPr txBox="1"/>
            <p:nvPr/>
          </p:nvSpPr>
          <p:spPr>
            <a:xfrm>
              <a:off x="1656828" y="3312028"/>
              <a:ext cx="141514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20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Állapotgép</a:t>
              </a:r>
            </a:p>
          </p:txBody>
        </p:sp>
      </p:grpSp>
      <p:sp>
        <p:nvSpPr>
          <p:cNvPr id="67" name="Téglalap: lekerekített 66">
            <a:extLst>
              <a:ext uri="{FF2B5EF4-FFF2-40B4-BE49-F238E27FC236}">
                <a16:creationId xmlns:a16="http://schemas.microsoft.com/office/drawing/2014/main" id="{E053C9E2-2CE2-6568-E794-0DF667C4AEAA}"/>
              </a:ext>
            </a:extLst>
          </p:cNvPr>
          <p:cNvSpPr/>
          <p:nvPr/>
        </p:nvSpPr>
        <p:spPr>
          <a:xfrm>
            <a:off x="6489873" y="1224098"/>
            <a:ext cx="2341124" cy="32935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OLED</a:t>
            </a:r>
          </a:p>
        </p:txBody>
      </p:sp>
      <p:sp>
        <p:nvSpPr>
          <p:cNvPr id="68" name="Téglalap: lekerekített 67">
            <a:extLst>
              <a:ext uri="{FF2B5EF4-FFF2-40B4-BE49-F238E27FC236}">
                <a16:creationId xmlns:a16="http://schemas.microsoft.com/office/drawing/2014/main" id="{CD2AA252-C700-E344-315A-F1EEA19C4E78}"/>
              </a:ext>
            </a:extLst>
          </p:cNvPr>
          <p:cNvSpPr/>
          <p:nvPr/>
        </p:nvSpPr>
        <p:spPr>
          <a:xfrm>
            <a:off x="6489873" y="1852722"/>
            <a:ext cx="2341124" cy="32935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Numpad</a:t>
            </a:r>
            <a:endParaRPr lang="hu-HU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9" name="Téglalap: lekerekített 68">
            <a:extLst>
              <a:ext uri="{FF2B5EF4-FFF2-40B4-BE49-F238E27FC236}">
                <a16:creationId xmlns:a16="http://schemas.microsoft.com/office/drawing/2014/main" id="{C1EC7B52-1EDB-9968-0F72-0B6E2BBF8373}"/>
              </a:ext>
            </a:extLst>
          </p:cNvPr>
          <p:cNvSpPr/>
          <p:nvPr/>
        </p:nvSpPr>
        <p:spPr>
          <a:xfrm>
            <a:off x="6489873" y="2483263"/>
            <a:ext cx="2341124" cy="32935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Gombok</a:t>
            </a:r>
          </a:p>
        </p:txBody>
      </p:sp>
      <p:sp>
        <p:nvSpPr>
          <p:cNvPr id="70" name="Téglalap: lekerekített 69">
            <a:extLst>
              <a:ext uri="{FF2B5EF4-FFF2-40B4-BE49-F238E27FC236}">
                <a16:creationId xmlns:a16="http://schemas.microsoft.com/office/drawing/2014/main" id="{7B744077-5FE6-2E8C-68E2-8DFA2057E70A}"/>
              </a:ext>
            </a:extLst>
          </p:cNvPr>
          <p:cNvSpPr/>
          <p:nvPr/>
        </p:nvSpPr>
        <p:spPr>
          <a:xfrm>
            <a:off x="6489873" y="5593003"/>
            <a:ext cx="2341124" cy="329352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Motorvezérlés</a:t>
            </a:r>
          </a:p>
        </p:txBody>
      </p:sp>
      <p:sp>
        <p:nvSpPr>
          <p:cNvPr id="71" name="Téglalap: lekerekített 70">
            <a:extLst>
              <a:ext uri="{FF2B5EF4-FFF2-40B4-BE49-F238E27FC236}">
                <a16:creationId xmlns:a16="http://schemas.microsoft.com/office/drawing/2014/main" id="{1E5C4667-4711-662A-91D2-5FA3174B4283}"/>
              </a:ext>
            </a:extLst>
          </p:cNvPr>
          <p:cNvSpPr/>
          <p:nvPr/>
        </p:nvSpPr>
        <p:spPr>
          <a:xfrm>
            <a:off x="6489873" y="6214278"/>
            <a:ext cx="2341124" cy="329352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Enkóderek</a:t>
            </a:r>
          </a:p>
        </p:txBody>
      </p:sp>
      <p:sp>
        <p:nvSpPr>
          <p:cNvPr id="72" name="Téglalap: lekerekített 71">
            <a:extLst>
              <a:ext uri="{FF2B5EF4-FFF2-40B4-BE49-F238E27FC236}">
                <a16:creationId xmlns:a16="http://schemas.microsoft.com/office/drawing/2014/main" id="{3B07B010-16DC-9214-1E6B-9FB8C5661349}"/>
              </a:ext>
            </a:extLst>
          </p:cNvPr>
          <p:cNvSpPr/>
          <p:nvPr/>
        </p:nvSpPr>
        <p:spPr>
          <a:xfrm>
            <a:off x="6489873" y="3729182"/>
            <a:ext cx="2341124" cy="329352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Referenciaszenzor</a:t>
            </a:r>
          </a:p>
        </p:txBody>
      </p:sp>
      <p:sp>
        <p:nvSpPr>
          <p:cNvPr id="73" name="Téglalap: lekerekített 72">
            <a:extLst>
              <a:ext uri="{FF2B5EF4-FFF2-40B4-BE49-F238E27FC236}">
                <a16:creationId xmlns:a16="http://schemas.microsoft.com/office/drawing/2014/main" id="{4FA71961-29B0-F904-9552-DDEDE2C42A37}"/>
              </a:ext>
            </a:extLst>
          </p:cNvPr>
          <p:cNvSpPr/>
          <p:nvPr/>
        </p:nvSpPr>
        <p:spPr>
          <a:xfrm>
            <a:off x="6489873" y="4327536"/>
            <a:ext cx="2341124" cy="32935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SPI </a:t>
            </a:r>
            <a:r>
              <a:rPr lang="hu-HU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sniffer</a:t>
            </a:r>
            <a:endParaRPr lang="hu-HU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Téglalap: lekerekített 73">
            <a:extLst>
              <a:ext uri="{FF2B5EF4-FFF2-40B4-BE49-F238E27FC236}">
                <a16:creationId xmlns:a16="http://schemas.microsoft.com/office/drawing/2014/main" id="{C150CC31-C454-32F1-5BC4-22ED5C0C4847}"/>
              </a:ext>
            </a:extLst>
          </p:cNvPr>
          <p:cNvSpPr/>
          <p:nvPr/>
        </p:nvSpPr>
        <p:spPr>
          <a:xfrm>
            <a:off x="6489873" y="4931694"/>
            <a:ext cx="2341124" cy="32935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Trigger</a:t>
            </a:r>
            <a:r>
              <a:rPr lang="hu-HU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hu-HU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interface</a:t>
            </a:r>
            <a:endParaRPr lang="hu-HU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églalap: lekerekített 77">
            <a:extLst>
              <a:ext uri="{FF2B5EF4-FFF2-40B4-BE49-F238E27FC236}">
                <a16:creationId xmlns:a16="http://schemas.microsoft.com/office/drawing/2014/main" id="{71B3EC0D-6463-D131-DB86-155C2B4A81FF}"/>
              </a:ext>
            </a:extLst>
          </p:cNvPr>
          <p:cNvSpPr/>
          <p:nvPr/>
        </p:nvSpPr>
        <p:spPr>
          <a:xfrm>
            <a:off x="6489873" y="3107909"/>
            <a:ext cx="2341124" cy="32935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EEPROM</a:t>
            </a:r>
          </a:p>
        </p:txBody>
      </p:sp>
      <p:sp>
        <p:nvSpPr>
          <p:cNvPr id="82" name="Szövegdoboz 81">
            <a:extLst>
              <a:ext uri="{FF2B5EF4-FFF2-40B4-BE49-F238E27FC236}">
                <a16:creationId xmlns:a16="http://schemas.microsoft.com/office/drawing/2014/main" id="{60AED13E-09CC-2994-3E69-136A0DB76F53}"/>
              </a:ext>
            </a:extLst>
          </p:cNvPr>
          <p:cNvSpPr txBox="1"/>
          <p:nvPr/>
        </p:nvSpPr>
        <p:spPr>
          <a:xfrm>
            <a:off x="9134989" y="98746"/>
            <a:ext cx="1011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SW</a:t>
            </a:r>
          </a:p>
        </p:txBody>
      </p:sp>
      <p:sp>
        <p:nvSpPr>
          <p:cNvPr id="83" name="Szövegdoboz 82">
            <a:extLst>
              <a:ext uri="{FF2B5EF4-FFF2-40B4-BE49-F238E27FC236}">
                <a16:creationId xmlns:a16="http://schemas.microsoft.com/office/drawing/2014/main" id="{B85D3299-1669-0D21-9840-676EEE7F46B4}"/>
              </a:ext>
            </a:extLst>
          </p:cNvPr>
          <p:cNvSpPr txBox="1"/>
          <p:nvPr/>
        </p:nvSpPr>
        <p:spPr>
          <a:xfrm>
            <a:off x="10515025" y="117576"/>
            <a:ext cx="1011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HW</a:t>
            </a:r>
          </a:p>
        </p:txBody>
      </p:sp>
      <p:sp>
        <p:nvSpPr>
          <p:cNvPr id="86" name="Multiplication Sign 101">
            <a:extLst>
              <a:ext uri="{FF2B5EF4-FFF2-40B4-BE49-F238E27FC236}">
                <a16:creationId xmlns:a16="http://schemas.microsoft.com/office/drawing/2014/main" id="{F5656CDC-80B0-8DE4-2DFE-FD4B0DB64C8F}"/>
              </a:ext>
            </a:extLst>
          </p:cNvPr>
          <p:cNvSpPr/>
          <p:nvPr/>
        </p:nvSpPr>
        <p:spPr>
          <a:xfrm>
            <a:off x="9125487" y="4219702"/>
            <a:ext cx="515341" cy="545020"/>
          </a:xfrm>
          <a:prstGeom prst="mathMultiply">
            <a:avLst/>
          </a:prstGeom>
          <a:solidFill>
            <a:srgbClr val="FF0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7" name="Multiplication Sign 101">
            <a:extLst>
              <a:ext uri="{FF2B5EF4-FFF2-40B4-BE49-F238E27FC236}">
                <a16:creationId xmlns:a16="http://schemas.microsoft.com/office/drawing/2014/main" id="{B9625C1F-6359-0993-5F9E-6989DDF9C6A6}"/>
              </a:ext>
            </a:extLst>
          </p:cNvPr>
          <p:cNvSpPr/>
          <p:nvPr/>
        </p:nvSpPr>
        <p:spPr>
          <a:xfrm>
            <a:off x="9125486" y="4823860"/>
            <a:ext cx="515341" cy="545020"/>
          </a:xfrm>
          <a:prstGeom prst="mathMultiply">
            <a:avLst/>
          </a:prstGeom>
          <a:solidFill>
            <a:srgbClr val="FF0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8" name="Téglalap: lekerekített 87">
            <a:extLst>
              <a:ext uri="{FF2B5EF4-FFF2-40B4-BE49-F238E27FC236}">
                <a16:creationId xmlns:a16="http://schemas.microsoft.com/office/drawing/2014/main" id="{62CE3EF4-2B2D-FC75-F371-BB2FD28CBEF5}"/>
              </a:ext>
            </a:extLst>
          </p:cNvPr>
          <p:cNvSpPr/>
          <p:nvPr/>
        </p:nvSpPr>
        <p:spPr>
          <a:xfrm>
            <a:off x="6489873" y="634000"/>
            <a:ext cx="2341124" cy="32935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PC vezérlés</a:t>
            </a:r>
          </a:p>
        </p:txBody>
      </p:sp>
      <p:sp>
        <p:nvSpPr>
          <p:cNvPr id="89" name="Multiplication Sign 101">
            <a:extLst>
              <a:ext uri="{FF2B5EF4-FFF2-40B4-BE49-F238E27FC236}">
                <a16:creationId xmlns:a16="http://schemas.microsoft.com/office/drawing/2014/main" id="{44A60A1E-4466-3954-9E2B-A5972D9E44E6}"/>
              </a:ext>
            </a:extLst>
          </p:cNvPr>
          <p:cNvSpPr/>
          <p:nvPr/>
        </p:nvSpPr>
        <p:spPr>
          <a:xfrm>
            <a:off x="9193581" y="614552"/>
            <a:ext cx="515341" cy="545020"/>
          </a:xfrm>
          <a:prstGeom prst="mathMultiply">
            <a:avLst/>
          </a:prstGeom>
          <a:solidFill>
            <a:srgbClr val="FF0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5" name="Szövegdoboz 94">
            <a:extLst>
              <a:ext uri="{FF2B5EF4-FFF2-40B4-BE49-F238E27FC236}">
                <a16:creationId xmlns:a16="http://schemas.microsoft.com/office/drawing/2014/main" id="{6E1C6F26-4F97-696B-DDCF-D8E791AC81D2}"/>
              </a:ext>
            </a:extLst>
          </p:cNvPr>
          <p:cNvSpPr txBox="1"/>
          <p:nvPr/>
        </p:nvSpPr>
        <p:spPr>
          <a:xfrm>
            <a:off x="10054843" y="1204108"/>
            <a:ext cx="1532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Külön panelen</a:t>
            </a:r>
          </a:p>
        </p:txBody>
      </p:sp>
      <p:sp>
        <p:nvSpPr>
          <p:cNvPr id="96" name="Szövegdoboz 95">
            <a:extLst>
              <a:ext uri="{FF2B5EF4-FFF2-40B4-BE49-F238E27FC236}">
                <a16:creationId xmlns:a16="http://schemas.microsoft.com/office/drawing/2014/main" id="{89E73F46-EB0A-8E72-C8D5-067B74C1C8B1}"/>
              </a:ext>
            </a:extLst>
          </p:cNvPr>
          <p:cNvSpPr txBox="1"/>
          <p:nvPr/>
        </p:nvSpPr>
        <p:spPr>
          <a:xfrm>
            <a:off x="10258297" y="4911704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Alaplapon</a:t>
            </a:r>
          </a:p>
        </p:txBody>
      </p:sp>
      <p:sp>
        <p:nvSpPr>
          <p:cNvPr id="97" name="Szövegdoboz 96">
            <a:extLst>
              <a:ext uri="{FF2B5EF4-FFF2-40B4-BE49-F238E27FC236}">
                <a16:creationId xmlns:a16="http://schemas.microsoft.com/office/drawing/2014/main" id="{7D96D7F1-CD1C-AF42-4CBB-B865BD5D2D19}"/>
              </a:ext>
            </a:extLst>
          </p:cNvPr>
          <p:cNvSpPr txBox="1"/>
          <p:nvPr/>
        </p:nvSpPr>
        <p:spPr>
          <a:xfrm>
            <a:off x="10054843" y="1832732"/>
            <a:ext cx="1532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Külön panelen</a:t>
            </a:r>
          </a:p>
        </p:txBody>
      </p:sp>
      <p:sp>
        <p:nvSpPr>
          <p:cNvPr id="98" name="Szövegdoboz 97">
            <a:extLst>
              <a:ext uri="{FF2B5EF4-FFF2-40B4-BE49-F238E27FC236}">
                <a16:creationId xmlns:a16="http://schemas.microsoft.com/office/drawing/2014/main" id="{1F262A42-6B83-9BB8-A850-67DAAC16025B}"/>
              </a:ext>
            </a:extLst>
          </p:cNvPr>
          <p:cNvSpPr txBox="1"/>
          <p:nvPr/>
        </p:nvSpPr>
        <p:spPr>
          <a:xfrm>
            <a:off x="9855686" y="6194288"/>
            <a:ext cx="2004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Motorra rögzíthető</a:t>
            </a:r>
          </a:p>
        </p:txBody>
      </p:sp>
      <p:sp>
        <p:nvSpPr>
          <p:cNvPr id="99" name="Szövegdoboz 98">
            <a:extLst>
              <a:ext uri="{FF2B5EF4-FFF2-40B4-BE49-F238E27FC236}">
                <a16:creationId xmlns:a16="http://schemas.microsoft.com/office/drawing/2014/main" id="{21FC0324-BE2E-0FBE-12E6-60B42AF79D38}"/>
              </a:ext>
            </a:extLst>
          </p:cNvPr>
          <p:cNvSpPr txBox="1"/>
          <p:nvPr/>
        </p:nvSpPr>
        <p:spPr>
          <a:xfrm>
            <a:off x="9917819" y="5573013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Kapható </a:t>
            </a:r>
            <a:r>
              <a:rPr lang="hu-HU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hardwer</a:t>
            </a:r>
            <a:endParaRPr lang="hu-H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0" name="Szövegdoboz 99">
            <a:extLst>
              <a:ext uri="{FF2B5EF4-FFF2-40B4-BE49-F238E27FC236}">
                <a16:creationId xmlns:a16="http://schemas.microsoft.com/office/drawing/2014/main" id="{1ACEBBE2-62C5-F162-3BEF-312DFA748183}"/>
              </a:ext>
            </a:extLst>
          </p:cNvPr>
          <p:cNvSpPr txBox="1"/>
          <p:nvPr/>
        </p:nvSpPr>
        <p:spPr>
          <a:xfrm>
            <a:off x="10258297" y="4307546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Alaplapon</a:t>
            </a:r>
          </a:p>
        </p:txBody>
      </p:sp>
      <p:sp>
        <p:nvSpPr>
          <p:cNvPr id="101" name="Szövegdoboz 100">
            <a:extLst>
              <a:ext uri="{FF2B5EF4-FFF2-40B4-BE49-F238E27FC236}">
                <a16:creationId xmlns:a16="http://schemas.microsoft.com/office/drawing/2014/main" id="{091C0DE4-27B7-4FF7-6578-017B842A0BF2}"/>
              </a:ext>
            </a:extLst>
          </p:cNvPr>
          <p:cNvSpPr txBox="1"/>
          <p:nvPr/>
        </p:nvSpPr>
        <p:spPr>
          <a:xfrm>
            <a:off x="9917819" y="3709192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Kapható </a:t>
            </a:r>
            <a:r>
              <a:rPr lang="hu-HU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hardwer</a:t>
            </a:r>
            <a:endParaRPr lang="hu-H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2" name="Szövegdoboz 101">
            <a:extLst>
              <a:ext uri="{FF2B5EF4-FFF2-40B4-BE49-F238E27FC236}">
                <a16:creationId xmlns:a16="http://schemas.microsoft.com/office/drawing/2014/main" id="{5451AE68-2E36-C372-8B37-02D2258F5A70}"/>
              </a:ext>
            </a:extLst>
          </p:cNvPr>
          <p:cNvSpPr txBox="1"/>
          <p:nvPr/>
        </p:nvSpPr>
        <p:spPr>
          <a:xfrm>
            <a:off x="10054843" y="3087919"/>
            <a:ext cx="1532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Külön panelen</a:t>
            </a:r>
          </a:p>
        </p:txBody>
      </p:sp>
      <p:sp>
        <p:nvSpPr>
          <p:cNvPr id="103" name="Szövegdoboz 102">
            <a:extLst>
              <a:ext uri="{FF2B5EF4-FFF2-40B4-BE49-F238E27FC236}">
                <a16:creationId xmlns:a16="http://schemas.microsoft.com/office/drawing/2014/main" id="{A060B531-F6F8-C6E7-6526-01AAD2FA15BB}"/>
              </a:ext>
            </a:extLst>
          </p:cNvPr>
          <p:cNvSpPr txBox="1"/>
          <p:nvPr/>
        </p:nvSpPr>
        <p:spPr>
          <a:xfrm>
            <a:off x="10054843" y="2463273"/>
            <a:ext cx="1532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Külön panelen</a:t>
            </a:r>
          </a:p>
        </p:txBody>
      </p:sp>
      <p:sp>
        <p:nvSpPr>
          <p:cNvPr id="105" name="Nyíl: balra-jobbra mutató 104">
            <a:extLst>
              <a:ext uri="{FF2B5EF4-FFF2-40B4-BE49-F238E27FC236}">
                <a16:creationId xmlns:a16="http://schemas.microsoft.com/office/drawing/2014/main" id="{53F0EF44-DF50-8310-4EA6-56C1CCD6D1FB}"/>
              </a:ext>
            </a:extLst>
          </p:cNvPr>
          <p:cNvSpPr/>
          <p:nvPr/>
        </p:nvSpPr>
        <p:spPr>
          <a:xfrm>
            <a:off x="4644956" y="2873204"/>
            <a:ext cx="1536144" cy="745109"/>
          </a:xfrm>
          <a:prstGeom prst="leftRightArrow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Szövegdoboz 94">
            <a:extLst>
              <a:ext uri="{FF2B5EF4-FFF2-40B4-BE49-F238E27FC236}">
                <a16:creationId xmlns:a16="http://schemas.microsoft.com/office/drawing/2014/main" id="{19D70263-5A15-52B3-5671-3159A7D81003}"/>
              </a:ext>
            </a:extLst>
          </p:cNvPr>
          <p:cNvSpPr txBox="1"/>
          <p:nvPr/>
        </p:nvSpPr>
        <p:spPr>
          <a:xfrm>
            <a:off x="10146665" y="594020"/>
            <a:ext cx="1380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Kialakított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AAC04B-EC24-F71A-E5E0-F02123C75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3E937-67EB-4C28-87C2-34258DECF31E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3971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8" grpId="0" animBg="1"/>
      <p:bldP spid="82" grpId="0"/>
      <p:bldP spid="83" grpId="0"/>
      <p:bldP spid="86" grpId="0" animBg="1"/>
      <p:bldP spid="87" grpId="0" animBg="1"/>
      <p:bldP spid="88" grpId="0" animBg="1"/>
      <p:bldP spid="89" grpId="0" animBg="1"/>
      <p:bldP spid="95" grpId="0"/>
      <p:bldP spid="96" grpId="0"/>
      <p:bldP spid="97" grpId="0"/>
      <p:bldP spid="98" grpId="0"/>
      <p:bldP spid="99" grpId="0"/>
      <p:bldP spid="100" grpId="0"/>
      <p:bldP spid="101" grpId="0"/>
      <p:bldP spid="102" grpId="0"/>
      <p:bldP spid="103" grpId="0"/>
      <p:bldP spid="105" grpId="0" animBg="1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4CFF23-BD51-BF04-C3F3-D1672257AB81}"/>
              </a:ext>
            </a:extLst>
          </p:cNvPr>
          <p:cNvSpPr/>
          <p:nvPr/>
        </p:nvSpPr>
        <p:spPr>
          <a:xfrm>
            <a:off x="3968170" y="2433799"/>
            <a:ext cx="2478024" cy="151412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CC07EE-D6CA-9904-1606-567F0F88529E}"/>
              </a:ext>
            </a:extLst>
          </p:cNvPr>
          <p:cNvSpPr txBox="1"/>
          <p:nvPr/>
        </p:nvSpPr>
        <p:spPr>
          <a:xfrm>
            <a:off x="3968170" y="2433799"/>
            <a:ext cx="247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latin typeface="Calibri" panose="020F0502020204030204" pitchFamily="34" charset="0"/>
              </a:rPr>
              <a:t>Paraméterek beállítása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242129-5A44-7079-46AE-AAC6091D504E}"/>
              </a:ext>
            </a:extLst>
          </p:cNvPr>
          <p:cNvSpPr txBox="1"/>
          <p:nvPr/>
        </p:nvSpPr>
        <p:spPr>
          <a:xfrm>
            <a:off x="3968170" y="2729197"/>
            <a:ext cx="21488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Fix tengely</a:t>
            </a:r>
          </a:p>
          <a:p>
            <a:r>
              <a:rPr lang="hu-HU" dirty="0">
                <a:latin typeface="Calibri" panose="020F0502020204030204" pitchFamily="34" charset="0"/>
              </a:rPr>
              <a:t>Követett tengely</a:t>
            </a:r>
          </a:p>
          <a:p>
            <a:r>
              <a:rPr lang="hu-HU" dirty="0">
                <a:latin typeface="Calibri" panose="020F0502020204030204" pitchFamily="34" charset="0"/>
              </a:rPr>
              <a:t>Szög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EBC8DA2-6A8F-09E6-5DFA-E650CD63BBFC}"/>
              </a:ext>
            </a:extLst>
          </p:cNvPr>
          <p:cNvSpPr/>
          <p:nvPr/>
        </p:nvSpPr>
        <p:spPr>
          <a:xfrm>
            <a:off x="1755323" y="5164852"/>
            <a:ext cx="2478024" cy="151412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C6FEB7-F778-2D58-4C2A-DAD05C77CA98}"/>
              </a:ext>
            </a:extLst>
          </p:cNvPr>
          <p:cNvSpPr txBox="1"/>
          <p:nvPr/>
        </p:nvSpPr>
        <p:spPr>
          <a:xfrm>
            <a:off x="1755323" y="5164852"/>
            <a:ext cx="247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latin typeface="Calibri" panose="020F0502020204030204" pitchFamily="34" charset="0"/>
              </a:rPr>
              <a:t>Beállás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927835-4CCA-D07E-F10A-8FE2ED967AF8}"/>
              </a:ext>
            </a:extLst>
          </p:cNvPr>
          <p:cNvSpPr txBox="1"/>
          <p:nvPr/>
        </p:nvSpPr>
        <p:spPr>
          <a:xfrm>
            <a:off x="1755323" y="5737249"/>
            <a:ext cx="24780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Beállítások által leírt pozíció felvétele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341E5A5-466D-B412-9F4F-023AD9C3F69F}"/>
              </a:ext>
            </a:extLst>
          </p:cNvPr>
          <p:cNvSpPr/>
          <p:nvPr/>
        </p:nvSpPr>
        <p:spPr>
          <a:xfrm>
            <a:off x="6985689" y="5164852"/>
            <a:ext cx="2478024" cy="151412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83D956-FF98-A2AE-F2F3-FFB140B5328E}"/>
              </a:ext>
            </a:extLst>
          </p:cNvPr>
          <p:cNvSpPr txBox="1"/>
          <p:nvPr/>
        </p:nvSpPr>
        <p:spPr>
          <a:xfrm>
            <a:off x="6985689" y="5164852"/>
            <a:ext cx="247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latin typeface="Calibri" panose="020F0502020204030204" pitchFamily="34" charset="0"/>
              </a:rPr>
              <a:t>Szabad mozgatás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8EEF8C-633A-C7B3-A178-A7BB7E8E9135}"/>
              </a:ext>
            </a:extLst>
          </p:cNvPr>
          <p:cNvSpPr txBox="1"/>
          <p:nvPr/>
        </p:nvSpPr>
        <p:spPr>
          <a:xfrm>
            <a:off x="6985689" y="5737249"/>
            <a:ext cx="24780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Szabad mozgatása a tengelyeknek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D15C40D-0D12-1622-8FE7-F35C32BC5181}"/>
              </a:ext>
            </a:extLst>
          </p:cNvPr>
          <p:cNvSpPr/>
          <p:nvPr/>
        </p:nvSpPr>
        <p:spPr>
          <a:xfrm>
            <a:off x="7858942" y="2433799"/>
            <a:ext cx="2478024" cy="151412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ADB537-F395-5DA5-F23B-ECC6577D85D7}"/>
              </a:ext>
            </a:extLst>
          </p:cNvPr>
          <p:cNvSpPr txBox="1"/>
          <p:nvPr/>
        </p:nvSpPr>
        <p:spPr>
          <a:xfrm>
            <a:off x="7858942" y="2433799"/>
            <a:ext cx="247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latin typeface="Calibri" panose="020F0502020204030204" pitchFamily="34" charset="0"/>
              </a:rPr>
              <a:t>PC vezérlés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9B2237-0781-906A-DEED-8C8238361B15}"/>
              </a:ext>
            </a:extLst>
          </p:cNvPr>
          <p:cNvSpPr txBox="1"/>
          <p:nvPr/>
        </p:nvSpPr>
        <p:spPr>
          <a:xfrm>
            <a:off x="7858942" y="3006196"/>
            <a:ext cx="247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Vezérlés PC-ről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654B00-14B1-07E3-BBEC-77A6E12B7F7F}"/>
              </a:ext>
            </a:extLst>
          </p:cNvPr>
          <p:cNvSpPr/>
          <p:nvPr/>
        </p:nvSpPr>
        <p:spPr>
          <a:xfrm>
            <a:off x="77398" y="2433799"/>
            <a:ext cx="2478024" cy="151412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2A23B7-A73A-41E9-4669-AB4AE9706645}"/>
              </a:ext>
            </a:extLst>
          </p:cNvPr>
          <p:cNvSpPr txBox="1"/>
          <p:nvPr/>
        </p:nvSpPr>
        <p:spPr>
          <a:xfrm>
            <a:off x="77398" y="2433799"/>
            <a:ext cx="247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latin typeface="Calibri" panose="020F0502020204030204" pitchFamily="34" charset="0"/>
              </a:rPr>
              <a:t>Memória választás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06C4B7-7951-8EEA-3448-FBDC1E520E4D}"/>
              </a:ext>
            </a:extLst>
          </p:cNvPr>
          <p:cNvSpPr txBox="1"/>
          <p:nvPr/>
        </p:nvSpPr>
        <p:spPr>
          <a:xfrm>
            <a:off x="77398" y="3006196"/>
            <a:ext cx="24780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Beállítások betöltése, 9 memória hely van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AC14B39C-CA3B-B143-E607-4432A2420F36}"/>
              </a:ext>
            </a:extLst>
          </p:cNvPr>
          <p:cNvCxnSpPr>
            <a:cxnSpLocks/>
          </p:cNvCxnSpPr>
          <p:nvPr/>
        </p:nvCxnSpPr>
        <p:spPr>
          <a:xfrm>
            <a:off x="2555422" y="3582120"/>
            <a:ext cx="14127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75455C2-27C0-75C6-04BD-9698A71ECD8B}"/>
              </a:ext>
            </a:extLst>
          </p:cNvPr>
          <p:cNvCxnSpPr/>
          <p:nvPr/>
        </p:nvCxnSpPr>
        <p:spPr>
          <a:xfrm flipH="1">
            <a:off x="2555422" y="2803131"/>
            <a:ext cx="14127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8942BE6-AA58-B704-0ABC-791BDC75823F}"/>
              </a:ext>
            </a:extLst>
          </p:cNvPr>
          <p:cNvCxnSpPr/>
          <p:nvPr/>
        </p:nvCxnSpPr>
        <p:spPr>
          <a:xfrm flipH="1">
            <a:off x="2348158" y="3761613"/>
            <a:ext cx="1620012" cy="14032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7CDFE464-B4B2-9E50-BDB6-695B696C6ACB}"/>
              </a:ext>
            </a:extLst>
          </p:cNvPr>
          <p:cNvCxnSpPr/>
          <p:nvPr/>
        </p:nvCxnSpPr>
        <p:spPr>
          <a:xfrm flipV="1">
            <a:off x="3500302" y="3947925"/>
            <a:ext cx="1271016" cy="1216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94ADE09-336A-23D6-5240-02DA3117D26E}"/>
              </a:ext>
            </a:extLst>
          </p:cNvPr>
          <p:cNvCxnSpPr/>
          <p:nvPr/>
        </p:nvCxnSpPr>
        <p:spPr>
          <a:xfrm>
            <a:off x="5786302" y="3947925"/>
            <a:ext cx="1609344" cy="1216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0FC25B23-EB33-01B1-18A2-4212E8A2DD2E}"/>
              </a:ext>
            </a:extLst>
          </p:cNvPr>
          <p:cNvCxnSpPr>
            <a:stCxn id="18" idx="0"/>
          </p:cNvCxnSpPr>
          <p:nvPr/>
        </p:nvCxnSpPr>
        <p:spPr>
          <a:xfrm flipH="1" flipV="1">
            <a:off x="6446194" y="3761613"/>
            <a:ext cx="1778507" cy="14032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69896E9-F4BA-FBA7-70DB-959E7E6021D7}"/>
              </a:ext>
            </a:extLst>
          </p:cNvPr>
          <p:cNvCxnSpPr>
            <a:cxnSpLocks/>
          </p:cNvCxnSpPr>
          <p:nvPr/>
        </p:nvCxnSpPr>
        <p:spPr>
          <a:xfrm>
            <a:off x="6446194" y="2803131"/>
            <a:ext cx="14127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56EC358D-A83A-FF3D-6E03-2CD77EDA1537}"/>
              </a:ext>
            </a:extLst>
          </p:cNvPr>
          <p:cNvCxnSpPr/>
          <p:nvPr/>
        </p:nvCxnSpPr>
        <p:spPr>
          <a:xfrm flipH="1">
            <a:off x="6446194" y="3582120"/>
            <a:ext cx="14127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B0486FE6-A869-DD1E-F17F-32CF3F3D24D7}"/>
              </a:ext>
            </a:extLst>
          </p:cNvPr>
          <p:cNvSpPr txBox="1"/>
          <p:nvPr/>
        </p:nvSpPr>
        <p:spPr>
          <a:xfrm>
            <a:off x="2933268" y="2481276"/>
            <a:ext cx="69121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MEM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EA7F4B8-2018-19D5-8DA2-8007CAFC4CD5}"/>
              </a:ext>
            </a:extLst>
          </p:cNvPr>
          <p:cNvSpPr txBox="1"/>
          <p:nvPr/>
        </p:nvSpPr>
        <p:spPr>
          <a:xfrm>
            <a:off x="3015112" y="3190862"/>
            <a:ext cx="457176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OK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CD6DDC4-C5ED-AEF5-716B-CC83D2A33073}"/>
              </a:ext>
            </a:extLst>
          </p:cNvPr>
          <p:cNvSpPr txBox="1"/>
          <p:nvPr/>
        </p:nvSpPr>
        <p:spPr>
          <a:xfrm>
            <a:off x="6634573" y="2424611"/>
            <a:ext cx="989566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REMOTE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6C27740-569D-81B8-40DE-0AED220AAE66}"/>
              </a:ext>
            </a:extLst>
          </p:cNvPr>
          <p:cNvSpPr txBox="1"/>
          <p:nvPr/>
        </p:nvSpPr>
        <p:spPr>
          <a:xfrm>
            <a:off x="6634572" y="3244582"/>
            <a:ext cx="989566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REMOTE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C8FFD57-38DF-7B71-1D2C-DD5BAE6EBA8D}"/>
              </a:ext>
            </a:extLst>
          </p:cNvPr>
          <p:cNvSpPr txBox="1"/>
          <p:nvPr/>
        </p:nvSpPr>
        <p:spPr>
          <a:xfrm>
            <a:off x="2752121" y="4059793"/>
            <a:ext cx="51488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SET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E89D2BD-3205-A64E-1587-045372731542}"/>
              </a:ext>
            </a:extLst>
          </p:cNvPr>
          <p:cNvSpPr txBox="1"/>
          <p:nvPr/>
        </p:nvSpPr>
        <p:spPr>
          <a:xfrm>
            <a:off x="3594252" y="4057011"/>
            <a:ext cx="1441485" cy="36933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Mozgás vége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C244EFA-9782-5378-B312-799596AC2D05}"/>
              </a:ext>
            </a:extLst>
          </p:cNvPr>
          <p:cNvSpPr txBox="1"/>
          <p:nvPr/>
        </p:nvSpPr>
        <p:spPr>
          <a:xfrm>
            <a:off x="5235460" y="4517773"/>
            <a:ext cx="177606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Szabad mozgatás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1551ECF-A659-6F00-2FBC-96BB3A7BC51E}"/>
              </a:ext>
            </a:extLst>
          </p:cNvPr>
          <p:cNvSpPr txBox="1"/>
          <p:nvPr/>
        </p:nvSpPr>
        <p:spPr>
          <a:xfrm>
            <a:off x="7503840" y="4307825"/>
            <a:ext cx="177606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hu-HU" dirty="0">
                <a:latin typeface="Calibri" panose="020F0502020204030204" pitchFamily="34" charset="0"/>
              </a:rPr>
              <a:t>Szabad mozgatás</a:t>
            </a:r>
          </a:p>
        </p:txBody>
      </p:sp>
      <p:sp>
        <p:nvSpPr>
          <p:cNvPr id="32" name="Téglalap: lekerekített 31">
            <a:extLst>
              <a:ext uri="{FF2B5EF4-FFF2-40B4-BE49-F238E27FC236}">
                <a16:creationId xmlns:a16="http://schemas.microsoft.com/office/drawing/2014/main" id="{73A679D3-7060-AB86-E877-5DE01864C781}"/>
              </a:ext>
            </a:extLst>
          </p:cNvPr>
          <p:cNvSpPr/>
          <p:nvPr/>
        </p:nvSpPr>
        <p:spPr>
          <a:xfrm>
            <a:off x="-1" y="0"/>
            <a:ext cx="3801105" cy="797492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hu-HU" sz="6000" dirty="0">
                <a:latin typeface="Calibri" panose="020F0502020204030204" pitchFamily="34" charset="0"/>
              </a:rPr>
              <a:t>Állapotgép</a:t>
            </a:r>
          </a:p>
        </p:txBody>
      </p:sp>
      <p:sp>
        <p:nvSpPr>
          <p:cNvPr id="33" name="Ellipszis 32">
            <a:extLst>
              <a:ext uri="{FF2B5EF4-FFF2-40B4-BE49-F238E27FC236}">
                <a16:creationId xmlns:a16="http://schemas.microsoft.com/office/drawing/2014/main" id="{8CB4BD71-ABE8-AD14-ED04-DEB84FFD1C7E}"/>
              </a:ext>
            </a:extLst>
          </p:cNvPr>
          <p:cNvSpPr/>
          <p:nvPr/>
        </p:nvSpPr>
        <p:spPr>
          <a:xfrm>
            <a:off x="4590343" y="1962763"/>
            <a:ext cx="361950" cy="36195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Calibri" panose="020F0502020204030204" pitchFamily="34" charset="0"/>
            </a:endParaRPr>
          </a:p>
        </p:txBody>
      </p:sp>
      <p:cxnSp>
        <p:nvCxnSpPr>
          <p:cNvPr id="37" name="Egyenes összekötő nyíllal 36">
            <a:extLst>
              <a:ext uri="{FF2B5EF4-FFF2-40B4-BE49-F238E27FC236}">
                <a16:creationId xmlns:a16="http://schemas.microsoft.com/office/drawing/2014/main" id="{5576006A-FA73-726B-87E2-1B224754987A}"/>
              </a:ext>
            </a:extLst>
          </p:cNvPr>
          <p:cNvCxnSpPr>
            <a:cxnSpLocks/>
            <a:stCxn id="33" idx="5"/>
            <a:endCxn id="5" idx="0"/>
          </p:cNvCxnSpPr>
          <p:nvPr/>
        </p:nvCxnSpPr>
        <p:spPr>
          <a:xfrm>
            <a:off x="4899287" y="2271707"/>
            <a:ext cx="307895" cy="162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Kép 13" descr="A képen szöveg, kézírás, rajz, tint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FB0CBB45-8418-F02F-9BF8-3669BFE8A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387" t="5757" r="2907" b="78488"/>
          <a:stretch/>
        </p:blipFill>
        <p:spPr>
          <a:xfrm>
            <a:off x="8574841" y="130398"/>
            <a:ext cx="3164527" cy="197398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B0EE3D-3D28-BED9-334E-ADA42A4E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3E937-67EB-4C28-87C2-34258DECF31E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16182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3E6CD-9183-E1D8-9F7D-672F53D0E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4E681-8564-69FF-BC7A-4C0D51293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1216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</Words>
  <Application>Microsoft Office PowerPoint</Application>
  <PresentationFormat>Widescreen</PresentationFormat>
  <Paragraphs>69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Projekt ütemterve</vt:lpstr>
      <vt:lpstr>Tengelyek elrendezése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Sasdi Andras (ME-SE/ESB-T3)</dc:creator>
  <cp:lastModifiedBy>FIXED-TERM Sasdi Andras (ME-SE/ESB-T3)</cp:lastModifiedBy>
  <cp:revision>4</cp:revision>
  <dcterms:created xsi:type="dcterms:W3CDTF">2026-01-20T15:18:25Z</dcterms:created>
  <dcterms:modified xsi:type="dcterms:W3CDTF">2026-01-21T12:11:05Z</dcterms:modified>
</cp:coreProperties>
</file>